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71" r:id="rId13"/>
    <p:sldId id="267" r:id="rId14"/>
    <p:sldId id="268" r:id="rId15"/>
    <p:sldId id="269" r:id="rId16"/>
    <p:sldId id="270"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7" d="100"/>
          <a:sy n="87" d="100"/>
        </p:scale>
        <p:origin x="9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3/26/2026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3/26/2026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3/26/2026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3/26/2026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3/26/2026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3/26/2026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3/26/2026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3/26/2026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3/26/2026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3/26/2026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3/26/2026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3/26/2026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3/26/2026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3/26/2026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3/26/2026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3/26/2026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3/26/2026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3/26/2026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6686" y="1054705"/>
            <a:ext cx="11103428" cy="2677648"/>
          </a:xfrm>
        </p:spPr>
        <p:txBody>
          <a:bodyPr/>
          <a:lstStyle/>
          <a:p>
            <a:r>
              <a:rPr lang="en-US" b="1" dirty="0">
                <a:latin typeface="Bahnschrift Light" panose="020B0502040204020203" pitchFamily="34" charset="0"/>
              </a:rPr>
              <a:t>Blockchain-Based Academic Certificate Verification System</a:t>
            </a:r>
          </a:p>
        </p:txBody>
      </p:sp>
      <p:sp>
        <p:nvSpPr>
          <p:cNvPr id="3" name="Subtitle 2"/>
          <p:cNvSpPr>
            <a:spLocks noGrp="1"/>
          </p:cNvSpPr>
          <p:nvPr>
            <p:ph type="subTitle" idx="1"/>
          </p:nvPr>
        </p:nvSpPr>
        <p:spPr>
          <a:xfrm>
            <a:off x="696686" y="4478800"/>
            <a:ext cx="8825658" cy="861420"/>
          </a:xfrm>
        </p:spPr>
        <p:txBody>
          <a:bodyPr/>
          <a:lstStyle/>
          <a:p>
            <a:r>
              <a:rPr lang="en-US" b="1" dirty="0">
                <a:solidFill>
                  <a:srgbClr val="C7CDD6"/>
                </a:solidFill>
                <a:latin typeface="Bahnschrift Light" panose="020B0502040204020203" pitchFamily="34" charset="0"/>
                <a:ea typeface="Arial Unicode MS" panose="020B0604020202020204" pitchFamily="34" charset="-128"/>
                <a:cs typeface="Arial Unicode MS" panose="020B0604020202020204" pitchFamily="34" charset="-128"/>
              </a:rPr>
              <a:t>Students:</a:t>
            </a:r>
            <a:r>
              <a:rPr lang="en-US" dirty="0">
                <a:solidFill>
                  <a:srgbClr val="C7CDD6"/>
                </a:solidFill>
                <a:latin typeface="Bahnschrift Light" panose="020B0502040204020203" pitchFamily="34" charset="0"/>
                <a:ea typeface="Arial Unicode MS" panose="020B0604020202020204" pitchFamily="34" charset="-128"/>
                <a:cs typeface="Arial Unicode MS" panose="020B0604020202020204" pitchFamily="34" charset="-128"/>
              </a:rPr>
              <a:t> Elisha Lungu (2021490777) &amp; </a:t>
            </a:r>
            <a:r>
              <a:rPr lang="en-US" dirty="0" smtClean="0">
                <a:solidFill>
                  <a:srgbClr val="C7CDD6"/>
                </a:solidFill>
                <a:latin typeface="Bahnschrift Light" panose="020B0502040204020203" pitchFamily="34" charset="0"/>
                <a:ea typeface="Arial Unicode MS" panose="020B0604020202020204" pitchFamily="34" charset="-128"/>
                <a:cs typeface="Arial Unicode MS" panose="020B0604020202020204" pitchFamily="34" charset="-128"/>
              </a:rPr>
              <a:t>Nkosi </a:t>
            </a:r>
            <a:r>
              <a:rPr lang="en-US" dirty="0">
                <a:solidFill>
                  <a:srgbClr val="C7CDD6"/>
                </a:solidFill>
                <a:latin typeface="Bahnschrift Light" panose="020B0502040204020203" pitchFamily="34" charset="0"/>
                <a:ea typeface="Arial Unicode MS" panose="020B0604020202020204" pitchFamily="34" charset="-128"/>
                <a:cs typeface="Arial Unicode MS" panose="020B0604020202020204" pitchFamily="34" charset="-128"/>
              </a:rPr>
              <a:t>David Shumba (2020079563)</a:t>
            </a:r>
            <a:endParaRPr lang="en-US" dirty="0">
              <a:latin typeface="Bahnschrift Light" panose="020B0502040204020203" pitchFamily="34" charset="0"/>
              <a:ea typeface="Arial Unicode MS" panose="020B0604020202020204" pitchFamily="34" charset="-128"/>
              <a:cs typeface="Arial Unicode MS" panose="020B0604020202020204" pitchFamily="34" charset="-128"/>
            </a:endParaRPr>
          </a:p>
          <a:p>
            <a:endParaRPr lang="en-US" dirty="0"/>
          </a:p>
        </p:txBody>
      </p:sp>
      <p:sp>
        <p:nvSpPr>
          <p:cNvPr id="4" name="TextBox 3"/>
          <p:cNvSpPr txBox="1"/>
          <p:nvPr/>
        </p:nvSpPr>
        <p:spPr>
          <a:xfrm>
            <a:off x="696686" y="5788090"/>
            <a:ext cx="6326155" cy="646331"/>
          </a:xfrm>
          <a:prstGeom prst="rect">
            <a:avLst/>
          </a:prstGeom>
          <a:noFill/>
        </p:spPr>
        <p:txBody>
          <a:bodyPr wrap="square" rtlCol="0">
            <a:spAutoFit/>
          </a:bodyPr>
          <a:lstStyle/>
          <a:p>
            <a:r>
              <a:rPr lang="en-US" b="1" dirty="0">
                <a:solidFill>
                  <a:srgbClr val="C7CDD6"/>
                </a:solidFill>
                <a:latin typeface="Bahnschrift Light" panose="020B0502040204020203" pitchFamily="34" charset="0"/>
                <a:ea typeface="Inter" pitchFamily="34" charset="-122"/>
                <a:cs typeface="Inter" pitchFamily="34" charset="-120"/>
              </a:rPr>
              <a:t>Supervisor:</a:t>
            </a:r>
            <a:r>
              <a:rPr lang="en-US" dirty="0">
                <a:solidFill>
                  <a:srgbClr val="C7CDD6"/>
                </a:solidFill>
                <a:latin typeface="Bahnschrift Light" panose="020B0502040204020203" pitchFamily="34" charset="0"/>
                <a:ea typeface="Inter" pitchFamily="34" charset="-122"/>
                <a:cs typeface="Inter" pitchFamily="34" charset="-120"/>
              </a:rPr>
              <a:t> </a:t>
            </a:r>
            <a:r>
              <a:rPr lang="en-US" dirty="0" smtClean="0">
                <a:solidFill>
                  <a:srgbClr val="C7CDD6"/>
                </a:solidFill>
                <a:latin typeface="Bahnschrift Light" panose="020B0502040204020203" pitchFamily="34" charset="0"/>
                <a:ea typeface="Inter" pitchFamily="34" charset="-122"/>
                <a:cs typeface="Inter" pitchFamily="34" charset="-120"/>
              </a:rPr>
              <a:t>Mr. </a:t>
            </a:r>
            <a:r>
              <a:rPr lang="en-US" dirty="0">
                <a:solidFill>
                  <a:srgbClr val="C7CDD6"/>
                </a:solidFill>
                <a:latin typeface="Bahnschrift Light" panose="020B0502040204020203" pitchFamily="34" charset="0"/>
                <a:ea typeface="Inter" pitchFamily="34" charset="-122"/>
                <a:cs typeface="Inter" pitchFamily="34" charset="-120"/>
              </a:rPr>
              <a:t>Andrea Theu | </a:t>
            </a:r>
            <a:r>
              <a:rPr lang="en-US" b="1" dirty="0">
                <a:solidFill>
                  <a:srgbClr val="C7CDD6"/>
                </a:solidFill>
                <a:latin typeface="Bahnschrift Light" panose="020B0502040204020203" pitchFamily="34" charset="0"/>
                <a:ea typeface="Inter" pitchFamily="34" charset="-122"/>
                <a:cs typeface="Inter" pitchFamily="34" charset="-120"/>
              </a:rPr>
              <a:t>Date:</a:t>
            </a:r>
            <a:r>
              <a:rPr lang="en-US" dirty="0">
                <a:solidFill>
                  <a:srgbClr val="C7CDD6"/>
                </a:solidFill>
                <a:latin typeface="Bahnschrift Light" panose="020B0502040204020203" pitchFamily="34" charset="0"/>
                <a:ea typeface="Inter" pitchFamily="34" charset="-122"/>
                <a:cs typeface="Inter" pitchFamily="34" charset="-120"/>
              </a:rPr>
              <a:t> March 13, 2026</a:t>
            </a:r>
            <a:endParaRPr lang="en-US" dirty="0">
              <a:latin typeface="Bahnschrift Light" panose="020B0502040204020203" pitchFamily="34" charset="0"/>
            </a:endParaRPr>
          </a:p>
          <a:p>
            <a:endParaRPr lang="en-US" dirty="0"/>
          </a:p>
        </p:txBody>
      </p:sp>
    </p:spTree>
    <p:extLst>
      <p:ext uri="{BB962C8B-B14F-4D97-AF65-F5344CB8AC3E}">
        <p14:creationId xmlns:p14="http://schemas.microsoft.com/office/powerpoint/2010/main" val="37384634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Bahnschrift Light" panose="020B0502040204020203" pitchFamily="34" charset="0"/>
              </a:rPr>
              <a:t>Contents</a:t>
            </a:r>
            <a:endParaRPr lang="en-US" b="1" dirty="0">
              <a:latin typeface="Bahnschrift Light" panose="020B0502040204020203" pitchFamily="34" charset="0"/>
            </a:endParaRPr>
          </a:p>
        </p:txBody>
      </p:sp>
      <p:sp>
        <p:nvSpPr>
          <p:cNvPr id="3" name="Content Placeholder 2"/>
          <p:cNvSpPr>
            <a:spLocks noGrp="1"/>
          </p:cNvSpPr>
          <p:nvPr>
            <p:ph idx="1"/>
          </p:nvPr>
        </p:nvSpPr>
        <p:spPr>
          <a:xfrm>
            <a:off x="1154954" y="2230275"/>
            <a:ext cx="10489650" cy="4245169"/>
          </a:xfrm>
        </p:spPr>
        <p:txBody>
          <a:bodyPr>
            <a:normAutofit fontScale="92500" lnSpcReduction="20000"/>
          </a:bodyPr>
          <a:lstStyle/>
          <a:p>
            <a:r>
              <a:rPr lang="en-US" dirty="0" smtClean="0">
                <a:latin typeface="Bahnschrift Light" panose="020B0502040204020203" pitchFamily="34" charset="0"/>
              </a:rPr>
              <a:t>Introduction</a:t>
            </a:r>
          </a:p>
          <a:p>
            <a:r>
              <a:rPr lang="en-US" dirty="0" smtClean="0">
                <a:latin typeface="Bahnschrift Light" panose="020B0502040204020203" pitchFamily="34" charset="0"/>
              </a:rPr>
              <a:t>Problem Statement</a:t>
            </a:r>
          </a:p>
          <a:p>
            <a:r>
              <a:rPr lang="en-US" dirty="0" smtClean="0">
                <a:latin typeface="Bahnschrift Light" panose="020B0502040204020203" pitchFamily="34" charset="0"/>
              </a:rPr>
              <a:t>Aim of Study</a:t>
            </a:r>
          </a:p>
          <a:p>
            <a:r>
              <a:rPr lang="en-US" dirty="0" smtClean="0">
                <a:latin typeface="Bahnschrift Light" panose="020B0502040204020203" pitchFamily="34" charset="0"/>
              </a:rPr>
              <a:t>Project Objectives</a:t>
            </a:r>
          </a:p>
          <a:p>
            <a:r>
              <a:rPr lang="en-US" dirty="0" smtClean="0">
                <a:latin typeface="Bahnschrift Light" panose="020B0502040204020203" pitchFamily="34" charset="0"/>
              </a:rPr>
              <a:t>Scope of the Project</a:t>
            </a:r>
          </a:p>
          <a:p>
            <a:r>
              <a:rPr lang="en-US" dirty="0" smtClean="0">
                <a:latin typeface="Bahnschrift Light" panose="020B0502040204020203" pitchFamily="34" charset="0"/>
              </a:rPr>
              <a:t>Literature Review</a:t>
            </a:r>
          </a:p>
          <a:p>
            <a:r>
              <a:rPr lang="en-US" dirty="0" smtClean="0">
                <a:latin typeface="Bahnschrift Light" panose="020B0502040204020203" pitchFamily="34" charset="0"/>
              </a:rPr>
              <a:t>Limitations of Centralized Verification System</a:t>
            </a:r>
          </a:p>
          <a:p>
            <a:r>
              <a:rPr lang="en-US" dirty="0" smtClean="0">
                <a:latin typeface="Bahnschrift Light" panose="020B0502040204020203" pitchFamily="34" charset="0"/>
              </a:rPr>
              <a:t>Research Gap</a:t>
            </a:r>
          </a:p>
          <a:p>
            <a:r>
              <a:rPr lang="en-US" dirty="0" smtClean="0">
                <a:latin typeface="Bahnschrift Light" panose="020B0502040204020203" pitchFamily="34" charset="0"/>
              </a:rPr>
              <a:t>System workflow</a:t>
            </a:r>
          </a:p>
          <a:p>
            <a:r>
              <a:rPr lang="en-US" dirty="0" smtClean="0">
                <a:latin typeface="Bahnschrift Light" panose="020B0502040204020203" pitchFamily="34" charset="0"/>
              </a:rPr>
              <a:t>Tools and Technologies</a:t>
            </a:r>
          </a:p>
          <a:p>
            <a:r>
              <a:rPr lang="en-US" dirty="0" smtClean="0">
                <a:latin typeface="Bahnschrift Light" panose="020B0502040204020203" pitchFamily="34" charset="0"/>
              </a:rPr>
              <a:t>Ethical and Legal Considerations</a:t>
            </a:r>
          </a:p>
          <a:p>
            <a:r>
              <a:rPr lang="en-US" dirty="0" smtClean="0">
                <a:latin typeface="Bahnschrift Light" panose="020B0502040204020203" pitchFamily="34" charset="0"/>
              </a:rPr>
              <a:t>Project Timeline</a:t>
            </a:r>
          </a:p>
          <a:p>
            <a:endParaRPr lang="en-US" dirty="0">
              <a:latin typeface="Bahnschrift Light" panose="020B0502040204020203" pitchFamily="34" charset="0"/>
            </a:endParaRPr>
          </a:p>
        </p:txBody>
      </p:sp>
    </p:spTree>
    <p:extLst>
      <p:ext uri="{BB962C8B-B14F-4D97-AF65-F5344CB8AC3E}">
        <p14:creationId xmlns:p14="http://schemas.microsoft.com/office/powerpoint/2010/main" val="13145206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Light" panose="020B0502040204020203" pitchFamily="34" charset="0"/>
              </a:rPr>
              <a:t>Introduction</a:t>
            </a:r>
            <a:endParaRPr lang="en-US" dirty="0">
              <a:latin typeface="Bahnschrift Light" panose="020B0502040204020203" pitchFamily="34" charset="0"/>
            </a:endParaRPr>
          </a:p>
        </p:txBody>
      </p:sp>
      <p:sp>
        <p:nvSpPr>
          <p:cNvPr id="3" name="Content Placeholder 2"/>
          <p:cNvSpPr>
            <a:spLocks noGrp="1"/>
          </p:cNvSpPr>
          <p:nvPr>
            <p:ph idx="1"/>
          </p:nvPr>
        </p:nvSpPr>
        <p:spPr>
          <a:xfrm>
            <a:off x="335902" y="2295331"/>
            <a:ext cx="11644604" cy="4562669"/>
          </a:xfrm>
        </p:spPr>
        <p:txBody>
          <a:bodyPr>
            <a:normAutofit fontScale="85000" lnSpcReduction="10000"/>
          </a:bodyPr>
          <a:lstStyle/>
          <a:p>
            <a:pPr marL="0" indent="0">
              <a:buNone/>
            </a:pPr>
            <a:r>
              <a:rPr lang="en-US" b="1" dirty="0" smtClean="0"/>
              <a:t>Academic </a:t>
            </a:r>
            <a:r>
              <a:rPr lang="en-US" b="1" dirty="0"/>
              <a:t>credentials are fundamental to validating educational achievement and enabling access to employment and further education, making their credibility essential for trust among institutions, employers, and society.</a:t>
            </a:r>
          </a:p>
          <a:p>
            <a:pPr marL="0" indent="0">
              <a:buNone/>
            </a:pPr>
            <a:r>
              <a:rPr lang="en-US" b="1" dirty="0" smtClean="0"/>
              <a:t>In </a:t>
            </a:r>
            <a:r>
              <a:rPr lang="en-US" b="1" dirty="0"/>
              <a:t>Zambia, the issuance and verification of these credentials remain largely manual and fragmented across bodies like ECZ, ZAQA, and various higher learning institutions.</a:t>
            </a:r>
          </a:p>
          <a:p>
            <a:pPr marL="0" indent="0">
              <a:buNone/>
            </a:pPr>
            <a:r>
              <a:rPr lang="en-US" b="1" dirty="0" smtClean="0"/>
              <a:t>This </a:t>
            </a:r>
            <a:r>
              <a:rPr lang="en-US" b="1" dirty="0"/>
              <a:t>fragmentation leads to inefficient processes, high costs, and vulnerability to document forgery and credential falsification.</a:t>
            </a:r>
          </a:p>
          <a:p>
            <a:pPr marL="0" indent="0">
              <a:buNone/>
            </a:pPr>
            <a:r>
              <a:rPr lang="en-US" b="1" dirty="0" smtClean="0"/>
              <a:t>To </a:t>
            </a:r>
            <a:r>
              <a:rPr lang="en-US" b="1" dirty="0"/>
              <a:t>address these challenges, this project proposes a national blockchain-based infrastructure that leverages immutability, transparency, and decentralization to enable secure, digitally verifiable credentials.</a:t>
            </a:r>
          </a:p>
          <a:p>
            <a:pPr marL="0" indent="0">
              <a:buNone/>
            </a:pPr>
            <a:r>
              <a:rPr lang="en-US" b="1" dirty="0" smtClean="0"/>
              <a:t>The </a:t>
            </a:r>
            <a:r>
              <a:rPr lang="en-US" b="1" dirty="0"/>
              <a:t>system uses a hybrid architecture: blockchain serves as a tamper-resistant verification layer, while traditional databases manage operational data such as user accounts and institutional records.</a:t>
            </a:r>
          </a:p>
          <a:p>
            <a:pPr marL="0" indent="0">
              <a:buNone/>
            </a:pPr>
            <a:r>
              <a:rPr lang="en-US" b="1" dirty="0" smtClean="0"/>
              <a:t>Accredited </a:t>
            </a:r>
            <a:r>
              <a:rPr lang="en-US" b="1" dirty="0"/>
              <a:t>institutions can issue cryptographically secured records that can be instantly authenticated online, eliminating the need for manual confirmation.</a:t>
            </a:r>
          </a:p>
          <a:p>
            <a:pPr marL="0" indent="0">
              <a:buNone/>
            </a:pPr>
            <a:r>
              <a:rPr lang="en-US" b="1" dirty="0" smtClean="0"/>
              <a:t>Ultimately</a:t>
            </a:r>
            <a:r>
              <a:rPr lang="en-US" b="1" dirty="0"/>
              <a:t>, this solution aims to streamline verification for employers and institutions, eliminate credential fraud, and enhance the credibility, accessibility, and efficiency of academic credential management in Zambia.</a:t>
            </a:r>
          </a:p>
          <a:p>
            <a:pPr marL="0" indent="0">
              <a:buNone/>
            </a:pPr>
            <a:r>
              <a:rPr lang="en-US" b="1" dirty="0" smtClean="0"/>
              <a:t>The </a:t>
            </a:r>
            <a:r>
              <a:rPr lang="en-US" b="1" dirty="0"/>
              <a:t>project demonstrates the pragmatic application of emerging technology and sound software engineering principles to solve a nationally significant challenge.</a:t>
            </a:r>
          </a:p>
        </p:txBody>
      </p:sp>
    </p:spTree>
    <p:extLst>
      <p:ext uri="{BB962C8B-B14F-4D97-AF65-F5344CB8AC3E}">
        <p14:creationId xmlns:p14="http://schemas.microsoft.com/office/powerpoint/2010/main" val="20323970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178941"/>
            <a:ext cx="8761413" cy="706964"/>
          </a:xfrm>
        </p:spPr>
        <p:txBody>
          <a:bodyPr/>
          <a:lstStyle/>
          <a:p>
            <a:r>
              <a:rPr lang="en-US" dirty="0">
                <a:latin typeface="Bahnschrift Light" panose="020B0502040204020203" pitchFamily="34" charset="0"/>
              </a:rPr>
              <a:t>Problem Statement</a:t>
            </a:r>
            <a:br>
              <a:rPr lang="en-US" dirty="0">
                <a:latin typeface="Bahnschrift Light" panose="020B0502040204020203" pitchFamily="34" charset="0"/>
              </a:rPr>
            </a:br>
            <a:endParaRPr lang="en-US" dirty="0"/>
          </a:p>
        </p:txBody>
      </p:sp>
      <p:sp>
        <p:nvSpPr>
          <p:cNvPr id="3" name="Content Placeholder 2"/>
          <p:cNvSpPr>
            <a:spLocks noGrp="1"/>
          </p:cNvSpPr>
          <p:nvPr>
            <p:ph idx="1"/>
          </p:nvPr>
        </p:nvSpPr>
        <p:spPr>
          <a:xfrm>
            <a:off x="373224" y="2603499"/>
            <a:ext cx="11010123" cy="4114542"/>
          </a:xfrm>
        </p:spPr>
        <p:txBody>
          <a:bodyPr>
            <a:normAutofit fontScale="85000" lnSpcReduction="10000"/>
          </a:bodyPr>
          <a:lstStyle/>
          <a:p>
            <a:r>
              <a:rPr lang="en-US" b="1" dirty="0">
                <a:solidFill>
                  <a:schemeClr val="accent6">
                    <a:lumMod val="50000"/>
                  </a:schemeClr>
                </a:solidFill>
                <a:latin typeface="+mj-lt"/>
              </a:rPr>
              <a:t>Prevalence of Paper-Based and Fragmented Systems</a:t>
            </a:r>
            <a:r>
              <a:rPr lang="en-US" b="1" dirty="0">
                <a:latin typeface="+mj-lt"/>
              </a:rPr>
              <a:t>: Academic credential verification in Zambia relies on manual, paper-based documentation and institution-specific procedures across ECZ, ZAQA, and higher learning institutions, making standardization, efficiency, and nationwide coordination difficult to achieve.</a:t>
            </a:r>
          </a:p>
          <a:p>
            <a:r>
              <a:rPr lang="en-US" b="1" dirty="0">
                <a:solidFill>
                  <a:schemeClr val="accent6">
                    <a:lumMod val="50000"/>
                  </a:schemeClr>
                </a:solidFill>
                <a:latin typeface="+mj-lt"/>
              </a:rPr>
              <a:t>Vulnerability to Fraud and Forgery</a:t>
            </a:r>
            <a:r>
              <a:rPr lang="en-US" b="1" dirty="0">
                <a:latin typeface="+mj-lt"/>
              </a:rPr>
              <a:t>: Paper certificates and non-secured digital records can be easily forged, altered, or duplicated, undermining trust in academic qualifications and making it difficult for employers and institutions to verify authenticity with confidence.</a:t>
            </a:r>
          </a:p>
          <a:p>
            <a:r>
              <a:rPr lang="en-US" b="1" dirty="0">
                <a:solidFill>
                  <a:schemeClr val="accent6">
                    <a:lumMod val="50000"/>
                  </a:schemeClr>
                </a:solidFill>
                <a:latin typeface="+mj-lt"/>
              </a:rPr>
              <a:t>Inefficient and Costly Verification Processes</a:t>
            </a:r>
            <a:r>
              <a:rPr lang="en-US" b="1" dirty="0">
                <a:latin typeface="+mj-lt"/>
              </a:rPr>
              <a:t>: Current verification requires direct, manual communication with issuing institutions—through letters, emails, or physical visits—resulting in time-consuming workflows, high administrative costs, and delays in employment or admissions decisions.</a:t>
            </a:r>
          </a:p>
          <a:p>
            <a:r>
              <a:rPr lang="en-US" b="1" dirty="0">
                <a:solidFill>
                  <a:schemeClr val="accent6">
                    <a:lumMod val="50000"/>
                  </a:schemeClr>
                </a:solidFill>
                <a:latin typeface="+mj-lt"/>
              </a:rPr>
              <a:t>Security Limitations of Centralized Systems</a:t>
            </a:r>
            <a:r>
              <a:rPr lang="en-US" b="1" dirty="0">
                <a:latin typeface="+mj-lt"/>
              </a:rPr>
              <a:t>: Existing electronic record systems remain vulnerable to unauthorized access, data manipulation, insider threats, and system failures; centralized databases also create a single point of failure that compromises the integrity of all stored academic records if breached.</a:t>
            </a:r>
          </a:p>
          <a:p>
            <a:r>
              <a:rPr lang="en-US" b="1" dirty="0">
                <a:solidFill>
                  <a:schemeClr val="accent6">
                    <a:lumMod val="50000"/>
                  </a:schemeClr>
                </a:solidFill>
                <a:latin typeface="+mj-lt"/>
              </a:rPr>
              <a:t>Lack of Interoperability and Real-Time Verification</a:t>
            </a:r>
            <a:r>
              <a:rPr lang="en-US" b="1" dirty="0">
                <a:latin typeface="+mj-lt"/>
              </a:rPr>
              <a:t>: There is no unified, nationally trusted framework that enables seamless, real-time, independent verification of credentials across institutions, leading to reduced confidence in academic qualifications and increased administrative burdens</a:t>
            </a:r>
          </a:p>
        </p:txBody>
      </p:sp>
    </p:spTree>
    <p:extLst>
      <p:ext uri="{BB962C8B-B14F-4D97-AF65-F5344CB8AC3E}">
        <p14:creationId xmlns:p14="http://schemas.microsoft.com/office/powerpoint/2010/main" val="29219221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690465"/>
            <a:ext cx="8761413" cy="990167"/>
          </a:xfrm>
        </p:spPr>
        <p:txBody>
          <a:bodyPr/>
          <a:lstStyle/>
          <a:p>
            <a:r>
              <a:rPr lang="en-US" dirty="0" smtClean="0">
                <a:latin typeface="Bahnschrift Light" panose="020B0502040204020203" pitchFamily="34" charset="0"/>
              </a:rPr>
              <a:t/>
            </a:r>
            <a:br>
              <a:rPr lang="en-US" dirty="0" smtClean="0">
                <a:latin typeface="Bahnschrift Light" panose="020B0502040204020203" pitchFamily="34" charset="0"/>
              </a:rPr>
            </a:br>
            <a:r>
              <a:rPr lang="en-US" dirty="0" smtClean="0">
                <a:latin typeface="Bahnschrift Light" panose="020B0502040204020203" pitchFamily="34" charset="0"/>
              </a:rPr>
              <a:t>Aim </a:t>
            </a:r>
            <a:r>
              <a:rPr lang="en-US" dirty="0">
                <a:latin typeface="Bahnschrift Light" panose="020B0502040204020203" pitchFamily="34" charset="0"/>
              </a:rPr>
              <a:t>of Study</a:t>
            </a:r>
            <a:br>
              <a:rPr lang="en-US" dirty="0">
                <a:latin typeface="Bahnschrift Light" panose="020B0502040204020203" pitchFamily="34" charset="0"/>
              </a:rPr>
            </a:br>
            <a:endParaRPr lang="en-US" dirty="0"/>
          </a:p>
        </p:txBody>
      </p:sp>
      <p:sp>
        <p:nvSpPr>
          <p:cNvPr id="3" name="Content Placeholder 2"/>
          <p:cNvSpPr>
            <a:spLocks noGrp="1"/>
          </p:cNvSpPr>
          <p:nvPr>
            <p:ph idx="1"/>
          </p:nvPr>
        </p:nvSpPr>
        <p:spPr>
          <a:xfrm>
            <a:off x="451692" y="2603500"/>
            <a:ext cx="11016867" cy="3416300"/>
          </a:xfrm>
        </p:spPr>
        <p:txBody>
          <a:bodyPr/>
          <a:lstStyle/>
          <a:p>
            <a:pPr marL="0" indent="0">
              <a:buNone/>
            </a:pPr>
            <a:r>
              <a:rPr lang="en-US" b="1" dirty="0"/>
              <a:t>The aim of this study is to design and implement a blockchain-based software system for the secure issuance and verification of academic credentials in Zambia. The proposed system seeks to leverage the capabilities of Blockchain to create a tamper-resistant and transparent platform that enables trusted institutions to issue digitally verifiable academic records </a:t>
            </a:r>
            <a:br>
              <a:rPr lang="en-US" b="1" dirty="0"/>
            </a:br>
            <a:endParaRPr lang="en-US" b="1" dirty="0"/>
          </a:p>
        </p:txBody>
      </p:sp>
    </p:spTree>
    <p:extLst>
      <p:ext uri="{BB962C8B-B14F-4D97-AF65-F5344CB8AC3E}">
        <p14:creationId xmlns:p14="http://schemas.microsoft.com/office/powerpoint/2010/main" val="705283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Light" panose="020B0502040204020203" pitchFamily="34" charset="0"/>
              </a:rPr>
              <a:t/>
            </a:r>
            <a:br>
              <a:rPr lang="en-US" dirty="0" smtClean="0">
                <a:latin typeface="Bahnschrift Light" panose="020B0502040204020203" pitchFamily="34" charset="0"/>
              </a:rPr>
            </a:br>
            <a:r>
              <a:rPr lang="en-US" dirty="0" smtClean="0">
                <a:latin typeface="Bahnschrift Light" panose="020B0502040204020203" pitchFamily="34" charset="0"/>
              </a:rPr>
              <a:t>Project </a:t>
            </a:r>
            <a:r>
              <a:rPr lang="en-US" dirty="0">
                <a:latin typeface="Bahnschrift Light" panose="020B0502040204020203" pitchFamily="34" charset="0"/>
              </a:rPr>
              <a:t>Objectives</a:t>
            </a:r>
            <a:br>
              <a:rPr lang="en-US" dirty="0">
                <a:latin typeface="Bahnschrift Light" panose="020B0502040204020203" pitchFamily="34" charset="0"/>
              </a:rPr>
            </a:br>
            <a:endParaRPr lang="en-US" dirty="0"/>
          </a:p>
        </p:txBody>
      </p:sp>
      <p:sp>
        <p:nvSpPr>
          <p:cNvPr id="3" name="Content Placeholder 2"/>
          <p:cNvSpPr>
            <a:spLocks noGrp="1"/>
          </p:cNvSpPr>
          <p:nvPr>
            <p:ph idx="1"/>
          </p:nvPr>
        </p:nvSpPr>
        <p:spPr>
          <a:xfrm>
            <a:off x="447869" y="2603500"/>
            <a:ext cx="11028783" cy="4039896"/>
          </a:xfrm>
        </p:spPr>
        <p:txBody>
          <a:bodyPr>
            <a:normAutofit fontScale="92500" lnSpcReduction="10000"/>
          </a:bodyPr>
          <a:lstStyle/>
          <a:p>
            <a:r>
              <a:rPr lang="en-US" b="1" dirty="0" smtClean="0"/>
              <a:t>To </a:t>
            </a:r>
            <a:r>
              <a:rPr lang="en-US" b="1" dirty="0"/>
              <a:t>analyze the existing academic certificate issuance and verification methods used by</a:t>
            </a:r>
          </a:p>
          <a:p>
            <a:pPr marL="0" indent="0">
              <a:buNone/>
            </a:pPr>
            <a:r>
              <a:rPr lang="en-US" b="1" dirty="0" smtClean="0"/>
              <a:t>      educational </a:t>
            </a:r>
            <a:r>
              <a:rPr lang="en-US" b="1" dirty="0"/>
              <a:t>institutions and examination bodies in Zambia.</a:t>
            </a:r>
          </a:p>
          <a:p>
            <a:r>
              <a:rPr lang="en-US" b="1" dirty="0" smtClean="0"/>
              <a:t>To </a:t>
            </a:r>
            <a:r>
              <a:rPr lang="en-US" b="1" dirty="0"/>
              <a:t>design a decentralized system architecture using Blockchain technology for secure</a:t>
            </a:r>
          </a:p>
          <a:p>
            <a:pPr marL="0" indent="0">
              <a:buNone/>
            </a:pPr>
            <a:r>
              <a:rPr lang="en-US" b="1" dirty="0" smtClean="0"/>
              <a:t>      academic </a:t>
            </a:r>
            <a:r>
              <a:rPr lang="en-US" b="1" dirty="0"/>
              <a:t>credential management.</a:t>
            </a:r>
          </a:p>
          <a:p>
            <a:r>
              <a:rPr lang="en-US" b="1" dirty="0" smtClean="0"/>
              <a:t>To </a:t>
            </a:r>
            <a:r>
              <a:rPr lang="en-US" b="1" dirty="0"/>
              <a:t>develop smart contracts that enable secure registration, storage, and verification of</a:t>
            </a:r>
          </a:p>
          <a:p>
            <a:pPr marL="0" indent="0">
              <a:buNone/>
            </a:pPr>
            <a:r>
              <a:rPr lang="en-US" b="1" dirty="0" smtClean="0"/>
              <a:t>      academic </a:t>
            </a:r>
            <a:r>
              <a:rPr lang="en-US" b="1" dirty="0"/>
              <a:t>certificates on the blockchain network.</a:t>
            </a:r>
          </a:p>
          <a:p>
            <a:r>
              <a:rPr lang="en-US" b="1" dirty="0" smtClean="0"/>
              <a:t>To o </a:t>
            </a:r>
            <a:r>
              <a:rPr lang="en-US" b="1" dirty="0"/>
              <a:t>evaluate the proposed system in terms of performance, security, reliability, and</a:t>
            </a:r>
          </a:p>
          <a:p>
            <a:pPr marL="0" indent="0">
              <a:buNone/>
            </a:pPr>
            <a:r>
              <a:rPr lang="en-US" b="1" dirty="0" smtClean="0"/>
              <a:t>      implement </a:t>
            </a:r>
            <a:r>
              <a:rPr lang="en-US" b="1" dirty="0"/>
              <a:t>a web-based application that allows authorized institutions to issue</a:t>
            </a:r>
          </a:p>
          <a:p>
            <a:pPr marL="0" indent="0">
              <a:buNone/>
            </a:pPr>
            <a:r>
              <a:rPr lang="en-US" b="1" dirty="0" smtClean="0"/>
              <a:t>      certificates </a:t>
            </a:r>
            <a:r>
              <a:rPr lang="en-US" b="1" dirty="0"/>
              <a:t>and enables employers or other stakeholders to verify credentials online.</a:t>
            </a:r>
          </a:p>
          <a:p>
            <a:pPr marL="0" indent="0">
              <a:buNone/>
            </a:pPr>
            <a:r>
              <a:rPr lang="en-US" b="1" dirty="0" smtClean="0"/>
              <a:t>      effectiveness </a:t>
            </a:r>
            <a:r>
              <a:rPr lang="en-US" b="1" dirty="0"/>
              <a:t>in preventing certificate forgery </a:t>
            </a:r>
            <a:br>
              <a:rPr lang="en-US" b="1" dirty="0"/>
            </a:br>
            <a:endParaRPr lang="en-US" b="1" dirty="0"/>
          </a:p>
        </p:txBody>
      </p:sp>
    </p:spTree>
    <p:extLst>
      <p:ext uri="{BB962C8B-B14F-4D97-AF65-F5344CB8AC3E}">
        <p14:creationId xmlns:p14="http://schemas.microsoft.com/office/powerpoint/2010/main" val="42296418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Light" panose="020B0502040204020203" pitchFamily="34" charset="0"/>
              </a:rPr>
              <a:t/>
            </a:r>
            <a:br>
              <a:rPr lang="en-US" dirty="0" smtClean="0">
                <a:latin typeface="Bahnschrift Light" panose="020B0502040204020203" pitchFamily="34" charset="0"/>
              </a:rPr>
            </a:br>
            <a:r>
              <a:rPr lang="en-US" dirty="0" smtClean="0">
                <a:latin typeface="Bahnschrift Light" panose="020B0502040204020203" pitchFamily="34" charset="0"/>
              </a:rPr>
              <a:t>Scope of the Project</a:t>
            </a:r>
            <a:br>
              <a:rPr lang="en-US" dirty="0" smtClean="0">
                <a:latin typeface="Bahnschrift Light" panose="020B0502040204020203" pitchFamily="34" charset="0"/>
              </a:rPr>
            </a:br>
            <a:endParaRPr lang="en-US" dirty="0"/>
          </a:p>
        </p:txBody>
      </p:sp>
      <p:sp>
        <p:nvSpPr>
          <p:cNvPr id="3" name="Content Placeholder 2"/>
          <p:cNvSpPr>
            <a:spLocks noGrp="1"/>
          </p:cNvSpPr>
          <p:nvPr>
            <p:ph idx="1"/>
          </p:nvPr>
        </p:nvSpPr>
        <p:spPr>
          <a:xfrm>
            <a:off x="522514" y="2603499"/>
            <a:ext cx="11010123" cy="4002574"/>
          </a:xfrm>
        </p:spPr>
        <p:txBody>
          <a:bodyPr>
            <a:normAutofit/>
          </a:bodyPr>
          <a:lstStyle/>
          <a:p>
            <a:pPr>
              <a:buFont typeface="+mj-lt"/>
              <a:buAutoNum type="arabicPeriod"/>
            </a:pPr>
            <a:r>
              <a:rPr lang="en-US" b="1" dirty="0"/>
              <a:t>Prototype Development: Design and develop a blockchain-based system specifically for secure academic certificate issuance and verification.</a:t>
            </a:r>
          </a:p>
          <a:p>
            <a:pPr>
              <a:buFont typeface="+mj-lt"/>
              <a:buAutoNum type="arabicPeriod"/>
            </a:pPr>
            <a:r>
              <a:rPr lang="en-US" b="1" dirty="0"/>
              <a:t>Blockchain Integration: Utilize the Ethereum testnet to store cryptographic hash values, ensuring records are tamper-proof without exposing sensitive personal data on the public ledger.</a:t>
            </a:r>
          </a:p>
          <a:p>
            <a:pPr>
              <a:buFont typeface="+mj-lt"/>
              <a:buAutoNum type="arabicPeriod"/>
            </a:pPr>
            <a:r>
              <a:rPr lang="en-US" b="1" dirty="0"/>
              <a:t>User Functionality: Provide a web-based interface that enables administrators to issue digital certificates and allows employers to verify authenticity instantly via QR code or ID number.</a:t>
            </a:r>
          </a:p>
          <a:p>
            <a:pPr>
              <a:buFont typeface="+mj-lt"/>
              <a:buAutoNum type="arabicPeriod"/>
            </a:pPr>
            <a:r>
              <a:rPr lang="en-US" b="1" dirty="0"/>
              <a:t>Security Objective: Demonstrate blockchain technology as a tamper-resistant verification layer to enhance transparency, reliability, and trust in credential management.</a:t>
            </a:r>
          </a:p>
        </p:txBody>
      </p:sp>
    </p:spTree>
    <p:extLst>
      <p:ext uri="{BB962C8B-B14F-4D97-AF65-F5344CB8AC3E}">
        <p14:creationId xmlns:p14="http://schemas.microsoft.com/office/powerpoint/2010/main" val="23195292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Literature </a:t>
            </a:r>
            <a:r>
              <a:rPr lang="en-US" dirty="0"/>
              <a:t>Review </a:t>
            </a:r>
            <a:br>
              <a:rPr lang="en-US" dirty="0"/>
            </a:br>
            <a:endParaRPr lang="en-US" dirty="0"/>
          </a:p>
        </p:txBody>
      </p:sp>
      <p:sp>
        <p:nvSpPr>
          <p:cNvPr id="3" name="Content Placeholder 2"/>
          <p:cNvSpPr>
            <a:spLocks noGrp="1"/>
          </p:cNvSpPr>
          <p:nvPr>
            <p:ph idx="1"/>
          </p:nvPr>
        </p:nvSpPr>
        <p:spPr>
          <a:xfrm>
            <a:off x="335902" y="2603500"/>
            <a:ext cx="11346025" cy="4254500"/>
          </a:xfrm>
        </p:spPr>
        <p:txBody>
          <a:bodyPr>
            <a:normAutofit fontScale="92500"/>
          </a:bodyPr>
          <a:lstStyle/>
          <a:p>
            <a:pPr>
              <a:buFont typeface="Wingdings" panose="05000000000000000000" pitchFamily="2" charset="2"/>
              <a:buChar char="Ø"/>
            </a:pPr>
            <a:r>
              <a:rPr lang="en-US" b="1" dirty="0" smtClean="0"/>
              <a:t> </a:t>
            </a:r>
            <a:r>
              <a:rPr lang="en-US" b="1" dirty="0"/>
              <a:t>The global digitization of academic records is driven by rising certificate forgery and inefficiencies in manual verification processes, as academic credentials are essential for validating educational achievements and determining eligibility for employment or further education.</a:t>
            </a:r>
          </a:p>
          <a:p>
            <a:pPr>
              <a:buFont typeface="Wingdings" panose="05000000000000000000" pitchFamily="2" charset="2"/>
              <a:buChar char="Ø"/>
            </a:pPr>
            <a:r>
              <a:rPr lang="en-US" b="1" dirty="0" smtClean="0"/>
              <a:t> </a:t>
            </a:r>
            <a:r>
              <a:rPr lang="en-US" b="1" dirty="0"/>
              <a:t>Ensuring the authenticity and integrity of academic credentials has become a critical priority for educational institutions, employers, and regulatory bodies worldwide.</a:t>
            </a:r>
          </a:p>
          <a:p>
            <a:pPr>
              <a:buFont typeface="Wingdings" panose="05000000000000000000" pitchFamily="2" charset="2"/>
              <a:buChar char="Ø"/>
            </a:pPr>
            <a:r>
              <a:rPr lang="en-US" b="1" dirty="0" smtClean="0"/>
              <a:t> </a:t>
            </a:r>
            <a:r>
              <a:rPr lang="en-US" b="1" dirty="0"/>
              <a:t>In Zambia, institutions like the Examinations Council of Zambia (ECZ) and the Zambia Qualifications Authority (ZAQA) have launched online verification platforms, marking important progress toward digital transformation in credential management.</a:t>
            </a:r>
          </a:p>
          <a:p>
            <a:pPr>
              <a:buFont typeface="Wingdings" panose="05000000000000000000" pitchFamily="2" charset="2"/>
              <a:buChar char="Ø"/>
            </a:pPr>
            <a:r>
              <a:rPr lang="en-US" b="1" dirty="0" smtClean="0"/>
              <a:t> </a:t>
            </a:r>
            <a:r>
              <a:rPr lang="en-US" b="1" dirty="0"/>
              <a:t>While these systems have improved accessibility and reduced verification time, challenges persist regarding data integrity, centralization risks, scalability limitations, and long-term security vulnerabilities.</a:t>
            </a:r>
          </a:p>
          <a:p>
            <a:pPr>
              <a:buFont typeface="Wingdings" panose="05000000000000000000" pitchFamily="2" charset="2"/>
              <a:buChar char="Ø"/>
            </a:pPr>
            <a:r>
              <a:rPr lang="en-US" b="1" dirty="0" smtClean="0"/>
              <a:t> </a:t>
            </a:r>
            <a:r>
              <a:rPr lang="en-US" b="1" dirty="0"/>
              <a:t>This chapter reviews existing digital verification systems, explores blockchain technology and its applications in education, and identifies research gaps that justify the development of a blockchain-based academic credential verification system for Zambia.</a:t>
            </a:r>
          </a:p>
        </p:txBody>
      </p:sp>
    </p:spTree>
    <p:extLst>
      <p:ext uri="{BB962C8B-B14F-4D97-AF65-F5344CB8AC3E}">
        <p14:creationId xmlns:p14="http://schemas.microsoft.com/office/powerpoint/2010/main" val="41199861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1094" y="973668"/>
            <a:ext cx="9685175" cy="706964"/>
          </a:xfrm>
        </p:spPr>
        <p:txBody>
          <a:bodyPr/>
          <a:lstStyle/>
          <a:p>
            <a:r>
              <a:rPr lang="en-US" dirty="0" smtClean="0">
                <a:latin typeface="Bahnschrift Light" panose="020B0502040204020203" pitchFamily="34" charset="0"/>
              </a:rPr>
              <a:t/>
            </a:r>
            <a:br>
              <a:rPr lang="en-US" dirty="0" smtClean="0">
                <a:latin typeface="Bahnschrift Light" panose="020B0502040204020203" pitchFamily="34" charset="0"/>
              </a:rPr>
            </a:br>
            <a:r>
              <a:rPr lang="en-US" dirty="0" smtClean="0">
                <a:latin typeface="Bahnschrift Light" panose="020B0502040204020203" pitchFamily="34" charset="0"/>
              </a:rPr>
              <a:t>Limitations </a:t>
            </a:r>
            <a:r>
              <a:rPr lang="en-US" dirty="0">
                <a:latin typeface="Bahnschrift Light" panose="020B0502040204020203" pitchFamily="34" charset="0"/>
              </a:rPr>
              <a:t>of Centralized Verification System</a:t>
            </a:r>
            <a:br>
              <a:rPr lang="en-US" dirty="0">
                <a:latin typeface="Bahnschrift Light" panose="020B0502040204020203" pitchFamily="34" charset="0"/>
              </a:rPr>
            </a:br>
            <a:endParaRPr lang="en-US" dirty="0"/>
          </a:p>
        </p:txBody>
      </p:sp>
      <p:sp>
        <p:nvSpPr>
          <p:cNvPr id="3" name="Content Placeholder 2"/>
          <p:cNvSpPr>
            <a:spLocks noGrp="1"/>
          </p:cNvSpPr>
          <p:nvPr>
            <p:ph idx="1"/>
          </p:nvPr>
        </p:nvSpPr>
        <p:spPr>
          <a:xfrm>
            <a:off x="440676" y="2603500"/>
            <a:ext cx="9539938" cy="3416300"/>
          </a:xfrm>
        </p:spPr>
        <p:txBody>
          <a:bodyPr/>
          <a:lstStyle/>
          <a:p>
            <a:r>
              <a:rPr lang="en-US" b="1" dirty="0"/>
              <a:t>Single Point of Failure</a:t>
            </a:r>
            <a:r>
              <a:rPr lang="en-US" dirty="0"/>
              <a:t> </a:t>
            </a:r>
            <a:endParaRPr lang="en-US" dirty="0" smtClean="0"/>
          </a:p>
          <a:p>
            <a:r>
              <a:rPr lang="en-US" b="1" dirty="0"/>
              <a:t>Risk of Data Tampering</a:t>
            </a:r>
            <a:r>
              <a:rPr lang="en-US" dirty="0"/>
              <a:t> </a:t>
            </a:r>
            <a:endParaRPr lang="en-US" dirty="0" smtClean="0"/>
          </a:p>
          <a:p>
            <a:r>
              <a:rPr lang="en-US" b="1" dirty="0"/>
              <a:t>Cybersecurity Vulnerabilities</a:t>
            </a:r>
            <a:r>
              <a:rPr lang="en-US" dirty="0"/>
              <a:t> </a:t>
            </a:r>
            <a:endParaRPr lang="en-US" dirty="0" smtClean="0"/>
          </a:p>
          <a:p>
            <a:r>
              <a:rPr lang="en-US" b="1" dirty="0"/>
              <a:t>Trust Dependency</a:t>
            </a:r>
            <a:r>
              <a:rPr lang="en-US" dirty="0"/>
              <a:t> </a:t>
            </a:r>
            <a:br>
              <a:rPr lang="en-US" dirty="0"/>
            </a:br>
            <a:r>
              <a:rPr lang="en-US" dirty="0"/>
              <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10896422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Light" panose="020B0502040204020203" pitchFamily="34" charset="0"/>
              </a:rPr>
              <a:t/>
            </a:r>
            <a:br>
              <a:rPr lang="en-US" dirty="0" smtClean="0">
                <a:latin typeface="Bahnschrift Light" panose="020B0502040204020203" pitchFamily="34" charset="0"/>
              </a:rPr>
            </a:br>
            <a:r>
              <a:rPr lang="en-US" dirty="0" smtClean="0">
                <a:latin typeface="Bahnschrift Light" panose="020B0502040204020203" pitchFamily="34" charset="0"/>
              </a:rPr>
              <a:t>Research </a:t>
            </a:r>
            <a:r>
              <a:rPr lang="en-US" dirty="0">
                <a:latin typeface="Bahnschrift Light" panose="020B0502040204020203" pitchFamily="34" charset="0"/>
              </a:rPr>
              <a:t>Gap</a:t>
            </a:r>
            <a:br>
              <a:rPr lang="en-US" dirty="0">
                <a:latin typeface="Bahnschrift Light" panose="020B0502040204020203" pitchFamily="34" charset="0"/>
              </a:rPr>
            </a:br>
            <a:endParaRPr lang="en-US" dirty="0"/>
          </a:p>
        </p:txBody>
      </p:sp>
      <p:sp>
        <p:nvSpPr>
          <p:cNvPr id="3" name="Content Placeholder 2"/>
          <p:cNvSpPr>
            <a:spLocks noGrp="1"/>
          </p:cNvSpPr>
          <p:nvPr>
            <p:ph idx="1"/>
          </p:nvPr>
        </p:nvSpPr>
        <p:spPr>
          <a:xfrm>
            <a:off x="429658" y="2603500"/>
            <a:ext cx="11084318" cy="3983912"/>
          </a:xfrm>
        </p:spPr>
        <p:txBody>
          <a:bodyPr>
            <a:normAutofit lnSpcReduction="10000"/>
          </a:bodyPr>
          <a:lstStyle/>
          <a:p>
            <a:r>
              <a:rPr lang="en-US" b="1" dirty="0" smtClean="0"/>
              <a:t> </a:t>
            </a:r>
            <a:r>
              <a:rPr lang="en-US" b="1" dirty="0"/>
              <a:t>Although ECZ and ZAQA have made significant progress with digital verification platforms, their systems rely on centralized architectures that lack the immutability, transparency, and distributed trust guarantees offered by decentralized ledger technologies.</a:t>
            </a:r>
          </a:p>
          <a:p>
            <a:r>
              <a:rPr lang="en-US" b="1" dirty="0" smtClean="0"/>
              <a:t> </a:t>
            </a:r>
            <a:r>
              <a:rPr lang="en-US" b="1" dirty="0"/>
              <a:t>Blockchain technology provides unique capabilities—decentralization, cryptographic security, and consensus-based validation—that can address key limitations of current systems, including vulnerability to data manipulation, single points of failure, and limited interoperability.</a:t>
            </a:r>
          </a:p>
          <a:p>
            <a:r>
              <a:rPr lang="en-US" b="1" dirty="0" smtClean="0"/>
              <a:t>To </a:t>
            </a:r>
            <a:r>
              <a:rPr lang="en-US" b="1" dirty="0"/>
              <a:t>date, there is no blockchain-based academic credential verification system implemented within Zambia's educational ecosystem, representing a critical gap in research and practical application.</a:t>
            </a:r>
          </a:p>
          <a:p>
            <a:r>
              <a:rPr lang="en-US" b="1" dirty="0" smtClean="0"/>
              <a:t>This </a:t>
            </a:r>
            <a:r>
              <a:rPr lang="en-US" b="1" dirty="0"/>
              <a:t>study addresses that gap by designing and implementing a blockchain-based prototype for secure academic certificate issuance and verification, demonstrating the feasibility and value of integrating distributed ledger technology into Zambia's academic credential management framework</a:t>
            </a:r>
          </a:p>
          <a:p>
            <a:endParaRPr lang="en-US" b="1" dirty="0"/>
          </a:p>
        </p:txBody>
      </p:sp>
    </p:spTree>
    <p:extLst>
      <p:ext uri="{BB962C8B-B14F-4D97-AF65-F5344CB8AC3E}">
        <p14:creationId xmlns:p14="http://schemas.microsoft.com/office/powerpoint/2010/main" val="34053453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733126"/>
            <a:ext cx="8761413" cy="706964"/>
          </a:xfrm>
        </p:spPr>
        <p:txBody>
          <a:bodyPr/>
          <a:lstStyle/>
          <a:p>
            <a:r>
              <a:rPr lang="en-US" dirty="0" smtClean="0">
                <a:latin typeface="Bahnschrift Light" panose="020B0502040204020203" pitchFamily="34" charset="0"/>
              </a:rPr>
              <a:t/>
            </a:r>
            <a:br>
              <a:rPr lang="en-US" dirty="0" smtClean="0">
                <a:latin typeface="Bahnschrift Light" panose="020B0502040204020203" pitchFamily="34" charset="0"/>
              </a:rPr>
            </a:br>
            <a:r>
              <a:rPr lang="en-US" dirty="0" smtClean="0">
                <a:latin typeface="Bahnschrift Light" panose="020B0502040204020203" pitchFamily="34" charset="0"/>
              </a:rPr>
              <a:t>System </a:t>
            </a:r>
            <a:r>
              <a:rPr lang="en-US" dirty="0">
                <a:latin typeface="Bahnschrift Light" panose="020B0502040204020203" pitchFamily="34" charset="0"/>
              </a:rPr>
              <a:t>workflow</a:t>
            </a:r>
            <a:br>
              <a:rPr lang="en-US" dirty="0">
                <a:latin typeface="Bahnschrift Light" panose="020B0502040204020203" pitchFamily="34" charset="0"/>
              </a:rPr>
            </a:br>
            <a:endParaRPr lang="en-US" dirty="0"/>
          </a:p>
        </p:txBody>
      </p:sp>
      <p:sp>
        <p:nvSpPr>
          <p:cNvPr id="5" name="Rounded Rectangle 4"/>
          <p:cNvSpPr/>
          <p:nvPr/>
        </p:nvSpPr>
        <p:spPr>
          <a:xfrm>
            <a:off x="292908" y="3461657"/>
            <a:ext cx="164592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sz="1600" b="1" dirty="0"/>
              <a:t>Institution Issues Certificate</a:t>
            </a:r>
          </a:p>
        </p:txBody>
      </p:sp>
      <p:sp>
        <p:nvSpPr>
          <p:cNvPr id="7" name="Rounded Rectangle 6"/>
          <p:cNvSpPr/>
          <p:nvPr/>
        </p:nvSpPr>
        <p:spPr>
          <a:xfrm>
            <a:off x="2638628" y="3461657"/>
            <a:ext cx="164592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sz="1600" b="1" dirty="0"/>
              <a:t>Certificate Data Hashed</a:t>
            </a:r>
          </a:p>
        </p:txBody>
      </p:sp>
      <p:sp>
        <p:nvSpPr>
          <p:cNvPr id="9" name="Rounded Rectangle 8"/>
          <p:cNvSpPr/>
          <p:nvPr/>
        </p:nvSpPr>
        <p:spPr>
          <a:xfrm>
            <a:off x="5045655" y="3461657"/>
            <a:ext cx="164592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sz="1400" b="1" dirty="0"/>
              <a:t>Hash Stored on Blockchain</a:t>
            </a:r>
          </a:p>
        </p:txBody>
      </p:sp>
      <p:sp>
        <p:nvSpPr>
          <p:cNvPr id="11" name="Rounded Rectangle 10"/>
          <p:cNvSpPr/>
          <p:nvPr/>
        </p:nvSpPr>
        <p:spPr>
          <a:xfrm>
            <a:off x="7593854" y="3461657"/>
            <a:ext cx="164592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sz="1400" b="1" dirty="0"/>
              <a:t>User Enters ID / QR Code</a:t>
            </a:r>
          </a:p>
        </p:txBody>
      </p:sp>
      <p:sp>
        <p:nvSpPr>
          <p:cNvPr id="13" name="Rounded Rectangle 12"/>
          <p:cNvSpPr/>
          <p:nvPr/>
        </p:nvSpPr>
        <p:spPr>
          <a:xfrm>
            <a:off x="10341302" y="3461657"/>
            <a:ext cx="141732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sz="1400" b="1" dirty="0"/>
              <a:t>System Verifies Certificate</a:t>
            </a:r>
          </a:p>
        </p:txBody>
      </p:sp>
      <p:cxnSp>
        <p:nvCxnSpPr>
          <p:cNvPr id="15" name="Straight Arrow Connector 14"/>
          <p:cNvCxnSpPr/>
          <p:nvPr/>
        </p:nvCxnSpPr>
        <p:spPr>
          <a:xfrm>
            <a:off x="9239774" y="3918857"/>
            <a:ext cx="8473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691575" y="3918857"/>
            <a:ext cx="7149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4284548" y="3918857"/>
            <a:ext cx="6730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5" idx="3"/>
          </p:cNvCxnSpPr>
          <p:nvPr/>
        </p:nvCxnSpPr>
        <p:spPr>
          <a:xfrm>
            <a:off x="1938828" y="3918857"/>
            <a:ext cx="5840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83071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Architecture</a:t>
            </a:r>
          </a:p>
        </p:txBody>
      </p:sp>
      <p:sp>
        <p:nvSpPr>
          <p:cNvPr id="5" name="Rounded Rectangle 4"/>
          <p:cNvSpPr/>
          <p:nvPr/>
        </p:nvSpPr>
        <p:spPr>
          <a:xfrm>
            <a:off x="1907104" y="3203712"/>
            <a:ext cx="1828800" cy="102310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sz="1600" b="1" dirty="0"/>
              <a:t>Institution Admin</a:t>
            </a:r>
          </a:p>
          <a:p>
            <a:r>
              <a:rPr sz="1600" b="1" dirty="0"/>
              <a:t>(Issue Certificates)</a:t>
            </a:r>
          </a:p>
        </p:txBody>
      </p:sp>
      <p:sp>
        <p:nvSpPr>
          <p:cNvPr id="6" name="Rounded Rectangle 5"/>
          <p:cNvSpPr/>
          <p:nvPr/>
        </p:nvSpPr>
        <p:spPr>
          <a:xfrm>
            <a:off x="4650304" y="2289312"/>
            <a:ext cx="22860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b="1" dirty="0"/>
              <a:t>Web Application</a:t>
            </a:r>
          </a:p>
        </p:txBody>
      </p:sp>
      <p:sp>
        <p:nvSpPr>
          <p:cNvPr id="7" name="Rounded Rectangle 6"/>
          <p:cNvSpPr/>
          <p:nvPr/>
        </p:nvSpPr>
        <p:spPr>
          <a:xfrm>
            <a:off x="4650304" y="4792717"/>
            <a:ext cx="22860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b="1" dirty="0"/>
              <a:t>Backend Server</a:t>
            </a:r>
          </a:p>
        </p:txBody>
      </p:sp>
      <p:sp>
        <p:nvSpPr>
          <p:cNvPr id="8" name="Rounded Rectangle 7"/>
          <p:cNvSpPr/>
          <p:nvPr/>
        </p:nvSpPr>
        <p:spPr>
          <a:xfrm>
            <a:off x="7614221" y="3397469"/>
            <a:ext cx="27432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b="1" dirty="0"/>
              <a:t>Blockchain Network</a:t>
            </a:r>
          </a:p>
          <a:p>
            <a:r>
              <a:rPr b="1" dirty="0"/>
              <a:t>(Ethereum Testnet)</a:t>
            </a:r>
          </a:p>
        </p:txBody>
      </p:sp>
      <p:sp>
        <p:nvSpPr>
          <p:cNvPr id="9" name="Rounded Rectangle 8"/>
          <p:cNvSpPr/>
          <p:nvPr/>
        </p:nvSpPr>
        <p:spPr>
          <a:xfrm>
            <a:off x="1670621" y="5943600"/>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r>
              <a:rPr sz="1600" b="1" dirty="0"/>
              <a:t>Employer / User</a:t>
            </a:r>
          </a:p>
          <a:p>
            <a:r>
              <a:rPr sz="1600" b="1" dirty="0"/>
              <a:t>(Verify Certificate</a:t>
            </a:r>
            <a:r>
              <a:rPr sz="1600" dirty="0"/>
              <a:t>)</a:t>
            </a:r>
          </a:p>
        </p:txBody>
      </p:sp>
      <p:cxnSp>
        <p:nvCxnSpPr>
          <p:cNvPr id="10" name="Connector 7"/>
          <p:cNvCxnSpPr>
            <a:endCxn id="6" idx="1"/>
          </p:cNvCxnSpPr>
          <p:nvPr/>
        </p:nvCxnSpPr>
        <p:spPr>
          <a:xfrm flipV="1">
            <a:off x="3783201" y="2746512"/>
            <a:ext cx="867103" cy="1023103"/>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Connector 8"/>
          <p:cNvCxnSpPr>
            <a:stCxn id="5" idx="3"/>
          </p:cNvCxnSpPr>
          <p:nvPr/>
        </p:nvCxnSpPr>
        <p:spPr>
          <a:xfrm>
            <a:off x="3735904" y="3715264"/>
            <a:ext cx="914400" cy="1534653"/>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nector 9"/>
          <p:cNvCxnSpPr/>
          <p:nvPr/>
        </p:nvCxnSpPr>
        <p:spPr>
          <a:xfrm>
            <a:off x="6936304" y="2940269"/>
            <a:ext cx="725214" cy="914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nector 10"/>
          <p:cNvCxnSpPr/>
          <p:nvPr/>
        </p:nvCxnSpPr>
        <p:spPr>
          <a:xfrm flipV="1">
            <a:off x="6936304" y="3878317"/>
            <a:ext cx="677917" cy="914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Connector 11"/>
          <p:cNvCxnSpPr>
            <a:stCxn id="9" idx="3"/>
            <a:endCxn id="7" idx="1"/>
          </p:cNvCxnSpPr>
          <p:nvPr/>
        </p:nvCxnSpPr>
        <p:spPr>
          <a:xfrm flipV="1">
            <a:off x="3499421" y="5249917"/>
            <a:ext cx="1150883" cy="1150883"/>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5940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Light" panose="020B0502040204020203" pitchFamily="34" charset="0"/>
              </a:rPr>
              <a:t/>
            </a:r>
            <a:br>
              <a:rPr lang="en-US" dirty="0" smtClean="0">
                <a:latin typeface="Bahnschrift Light" panose="020B0502040204020203" pitchFamily="34" charset="0"/>
              </a:rPr>
            </a:br>
            <a:r>
              <a:rPr lang="en-US" dirty="0" smtClean="0">
                <a:latin typeface="Bahnschrift Light" panose="020B0502040204020203" pitchFamily="34" charset="0"/>
              </a:rPr>
              <a:t>Tools </a:t>
            </a:r>
            <a:r>
              <a:rPr lang="en-US" dirty="0">
                <a:latin typeface="Bahnschrift Light" panose="020B0502040204020203" pitchFamily="34" charset="0"/>
              </a:rPr>
              <a:t>and Technologies</a:t>
            </a:r>
            <a:br>
              <a:rPr lang="en-US" dirty="0">
                <a:latin typeface="Bahnschrift Light" panose="020B0502040204020203" pitchFamily="34" charset="0"/>
              </a:rPr>
            </a:br>
            <a:endParaRPr lang="en-US" dirty="0"/>
          </a:p>
        </p:txBody>
      </p:sp>
      <p:sp>
        <p:nvSpPr>
          <p:cNvPr id="3" name="Content Placeholder 2"/>
          <p:cNvSpPr>
            <a:spLocks noGrp="1"/>
          </p:cNvSpPr>
          <p:nvPr>
            <p:ph idx="1"/>
          </p:nvPr>
        </p:nvSpPr>
        <p:spPr>
          <a:xfrm>
            <a:off x="594912" y="2603500"/>
            <a:ext cx="10851614" cy="3665098"/>
          </a:xfrm>
        </p:spPr>
        <p:txBody>
          <a:bodyPr>
            <a:normAutofit fontScale="70000" lnSpcReduction="20000"/>
          </a:bodyPr>
          <a:lstStyle/>
          <a:p>
            <a:pPr marL="0" indent="0">
              <a:buNone/>
            </a:pPr>
            <a:r>
              <a:rPr lang="en-US" b="1" dirty="0"/>
              <a:t>Programming Languages</a:t>
            </a:r>
          </a:p>
          <a:p>
            <a:r>
              <a:rPr lang="en-US" b="1" dirty="0" smtClean="0"/>
              <a:t>Solidity</a:t>
            </a:r>
            <a:r>
              <a:rPr lang="en-US" b="1" dirty="0"/>
              <a:t>: Develops smart contracts to manage certificate registration and verification on the blockchain.</a:t>
            </a:r>
          </a:p>
          <a:p>
            <a:r>
              <a:rPr lang="en-US" b="1" dirty="0" smtClean="0"/>
              <a:t>JavaScript</a:t>
            </a:r>
            <a:r>
              <a:rPr lang="en-US" b="1" dirty="0"/>
              <a:t>: Handles backend services and integrates the web application with the blockchain network.</a:t>
            </a:r>
          </a:p>
          <a:p>
            <a:r>
              <a:rPr lang="en-US" b="1" dirty="0" smtClean="0"/>
              <a:t>HTML </a:t>
            </a:r>
            <a:r>
              <a:rPr lang="en-US" b="1" dirty="0"/>
              <a:t>&amp; CSS: Designs the user interface for the web-based verification platform.</a:t>
            </a:r>
          </a:p>
          <a:p>
            <a:pPr marL="0" indent="0">
              <a:buNone/>
            </a:pPr>
            <a:r>
              <a:rPr lang="en-US" b="1" dirty="0"/>
              <a:t>Frameworks &amp; Libraries</a:t>
            </a:r>
          </a:p>
          <a:p>
            <a:r>
              <a:rPr lang="en-US" b="1" dirty="0" smtClean="0"/>
              <a:t>Node.js</a:t>
            </a:r>
            <a:r>
              <a:rPr lang="en-US" b="1" dirty="0"/>
              <a:t>: Implements the backend server for system logic and communication with the blockchain.</a:t>
            </a:r>
          </a:p>
          <a:p>
            <a:r>
              <a:rPr lang="en-US" b="1" dirty="0" smtClean="0"/>
              <a:t>Web3.js</a:t>
            </a:r>
            <a:r>
              <a:rPr lang="en-US" b="1" dirty="0"/>
              <a:t>: Enables secure interaction between the web application and the Ethereum network.</a:t>
            </a:r>
          </a:p>
          <a:p>
            <a:r>
              <a:rPr lang="en-US" b="1" dirty="0" smtClean="0"/>
              <a:t> </a:t>
            </a:r>
            <a:r>
              <a:rPr lang="en-US" b="1" dirty="0"/>
              <a:t>React.js (Optional): Builds an interactive and responsive user interface.</a:t>
            </a:r>
          </a:p>
          <a:p>
            <a:pPr marL="0" indent="0">
              <a:buNone/>
            </a:pPr>
            <a:r>
              <a:rPr lang="en-US" b="1" dirty="0"/>
              <a:t>Blockchain Network</a:t>
            </a:r>
          </a:p>
          <a:p>
            <a:r>
              <a:rPr lang="en-US" b="1" dirty="0" smtClean="0"/>
              <a:t>Ethereum </a:t>
            </a:r>
            <a:r>
              <a:rPr lang="en-US" b="1" dirty="0"/>
              <a:t>Testnet: Deploys the decentralized ledger for tamper-resistant record keeping</a:t>
            </a:r>
            <a:r>
              <a:rPr lang="en-US" b="1" dirty="0" smtClean="0"/>
              <a:t>.</a:t>
            </a:r>
          </a:p>
          <a:p>
            <a:pPr marL="0" indent="0">
              <a:buNone/>
            </a:pPr>
            <a:r>
              <a:rPr lang="en-US" b="1" dirty="0" smtClean="0"/>
              <a:t>Database</a:t>
            </a:r>
          </a:p>
          <a:p>
            <a:r>
              <a:rPr lang="en-US" b="1" dirty="0"/>
              <a:t>MySQL: Used to store user accounts, certificate metadata, and system logs </a:t>
            </a:r>
            <a:r>
              <a:rPr lang="en-US" dirty="0"/>
              <a:t/>
            </a:r>
            <a:br>
              <a:rPr lang="en-US" dirty="0"/>
            </a:br>
            <a:endParaRPr lang="en-US" b="1" dirty="0" smtClean="0"/>
          </a:p>
        </p:txBody>
      </p:sp>
    </p:spTree>
    <p:extLst>
      <p:ext uri="{BB962C8B-B14F-4D97-AF65-F5344CB8AC3E}">
        <p14:creationId xmlns:p14="http://schemas.microsoft.com/office/powerpoint/2010/main" val="42615728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Light" panose="020B0502040204020203" pitchFamily="34" charset="0"/>
              </a:rPr>
              <a:t/>
            </a:r>
            <a:br>
              <a:rPr lang="en-US" dirty="0" smtClean="0">
                <a:latin typeface="Bahnschrift Light" panose="020B0502040204020203" pitchFamily="34" charset="0"/>
              </a:rPr>
            </a:br>
            <a:r>
              <a:rPr lang="en-US" dirty="0" smtClean="0">
                <a:latin typeface="Bahnschrift Light" panose="020B0502040204020203" pitchFamily="34" charset="0"/>
              </a:rPr>
              <a:t>Ethical </a:t>
            </a:r>
            <a:r>
              <a:rPr lang="en-US" dirty="0">
                <a:latin typeface="Bahnschrift Light" panose="020B0502040204020203" pitchFamily="34" charset="0"/>
              </a:rPr>
              <a:t>and Legal Considerations</a:t>
            </a:r>
            <a:br>
              <a:rPr lang="en-US" dirty="0">
                <a:latin typeface="Bahnschrift Light" panose="020B0502040204020203" pitchFamily="34" charset="0"/>
              </a:rPr>
            </a:br>
            <a:endParaRPr lang="en-US" dirty="0"/>
          </a:p>
        </p:txBody>
      </p:sp>
      <p:sp>
        <p:nvSpPr>
          <p:cNvPr id="3" name="Content Placeholder 2"/>
          <p:cNvSpPr>
            <a:spLocks noGrp="1"/>
          </p:cNvSpPr>
          <p:nvPr>
            <p:ph idx="1"/>
          </p:nvPr>
        </p:nvSpPr>
        <p:spPr>
          <a:xfrm>
            <a:off x="440675" y="2603500"/>
            <a:ext cx="10774495" cy="3416300"/>
          </a:xfrm>
        </p:spPr>
        <p:txBody>
          <a:bodyPr>
            <a:normAutofit fontScale="92500" lnSpcReduction="20000"/>
          </a:bodyPr>
          <a:lstStyle/>
          <a:p>
            <a:r>
              <a:rPr lang="en-US" b="1" dirty="0"/>
              <a:t>Data Privacy</a:t>
            </a:r>
            <a:r>
              <a:rPr lang="en-US" dirty="0"/>
              <a:t> </a:t>
            </a:r>
            <a:endParaRPr lang="en-US" dirty="0" smtClean="0"/>
          </a:p>
          <a:p>
            <a:r>
              <a:rPr lang="en-US" b="1" dirty="0"/>
              <a:t>User Consent</a:t>
            </a:r>
            <a:r>
              <a:rPr lang="en-US" dirty="0"/>
              <a:t> </a:t>
            </a:r>
            <a:endParaRPr lang="en-US" dirty="0" smtClean="0"/>
          </a:p>
          <a:p>
            <a:r>
              <a:rPr lang="en-US" b="1" dirty="0"/>
              <a:t>Security Considerations</a:t>
            </a:r>
            <a:r>
              <a:rPr lang="en-US" dirty="0"/>
              <a:t> </a:t>
            </a:r>
            <a:endParaRPr lang="en-US" dirty="0" smtClean="0"/>
          </a:p>
          <a:p>
            <a:r>
              <a:rPr lang="en-US" b="1" dirty="0"/>
              <a:t>Intellectual Property</a:t>
            </a:r>
            <a:r>
              <a:rPr lang="en-US" dirty="0"/>
              <a:t> </a:t>
            </a:r>
            <a:endParaRPr lang="en-US" dirty="0" smtClean="0"/>
          </a:p>
          <a:p>
            <a:r>
              <a:rPr lang="en-US" b="1" dirty="0"/>
              <a:t>Expected Outcomes</a:t>
            </a:r>
            <a:r>
              <a:rPr lang="en-US" dirty="0"/>
              <a:t> </a:t>
            </a:r>
            <a:endParaRPr lang="en-US" dirty="0" smtClean="0"/>
          </a:p>
          <a:p>
            <a:r>
              <a:rPr lang="en-US" b="1" dirty="0"/>
              <a:t>Software Prototype</a:t>
            </a:r>
            <a:r>
              <a:rPr lang="en-US" dirty="0"/>
              <a:t>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34805257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Bahnschrift Light" panose="020B0502040204020203" pitchFamily="34" charset="0"/>
              </a:rPr>
              <a:t/>
            </a:r>
            <a:br>
              <a:rPr lang="en-US" dirty="0" smtClean="0">
                <a:latin typeface="Bahnschrift Light" panose="020B0502040204020203" pitchFamily="34" charset="0"/>
              </a:rPr>
            </a:br>
            <a:r>
              <a:rPr lang="en-US" dirty="0" smtClean="0">
                <a:latin typeface="Bahnschrift Light" panose="020B0502040204020203" pitchFamily="34" charset="0"/>
              </a:rPr>
              <a:t>Project </a:t>
            </a:r>
            <a:r>
              <a:rPr lang="en-US" dirty="0">
                <a:latin typeface="Bahnschrift Light" panose="020B0502040204020203" pitchFamily="34" charset="0"/>
              </a:rPr>
              <a:t>Timeline</a:t>
            </a:r>
            <a:br>
              <a:rPr lang="en-US" dirty="0">
                <a:latin typeface="Bahnschrift Light" panose="020B0502040204020203" pitchFamily="34" charset="0"/>
              </a:rPr>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27190329"/>
              </p:ext>
            </p:extLst>
          </p:nvPr>
        </p:nvGraphicFramePr>
        <p:xfrm>
          <a:off x="1155700" y="2603500"/>
          <a:ext cx="8824914" cy="2966720"/>
        </p:xfrm>
        <a:graphic>
          <a:graphicData uri="http://schemas.openxmlformats.org/drawingml/2006/table">
            <a:tbl>
              <a:tblPr firstRow="1" bandRow="1">
                <a:tableStyleId>{5C22544A-7EE6-4342-B048-85BDC9FD1C3A}</a:tableStyleId>
              </a:tblPr>
              <a:tblGrid>
                <a:gridCol w="2941638">
                  <a:extLst>
                    <a:ext uri="{9D8B030D-6E8A-4147-A177-3AD203B41FA5}">
                      <a16:colId xmlns:a16="http://schemas.microsoft.com/office/drawing/2014/main" val="1420571162"/>
                    </a:ext>
                  </a:extLst>
                </a:gridCol>
                <a:gridCol w="2941638">
                  <a:extLst>
                    <a:ext uri="{9D8B030D-6E8A-4147-A177-3AD203B41FA5}">
                      <a16:colId xmlns:a16="http://schemas.microsoft.com/office/drawing/2014/main" val="1934834191"/>
                    </a:ext>
                  </a:extLst>
                </a:gridCol>
                <a:gridCol w="2941638">
                  <a:extLst>
                    <a:ext uri="{9D8B030D-6E8A-4147-A177-3AD203B41FA5}">
                      <a16:colId xmlns:a16="http://schemas.microsoft.com/office/drawing/2014/main" val="4123176251"/>
                    </a:ext>
                  </a:extLst>
                </a:gridCol>
              </a:tblGrid>
              <a:tr h="370840">
                <a:tc>
                  <a:txBody>
                    <a:bodyPr/>
                    <a:lstStyle/>
                    <a:p>
                      <a:r>
                        <a:rPr lang="en-US" sz="1200" b="1" i="0" dirty="0">
                          <a:solidFill>
                            <a:srgbClr val="000000"/>
                          </a:solidFill>
                          <a:effectLst/>
                          <a:latin typeface="TimesNewRomanPS-BoldMT"/>
                        </a:rPr>
                        <a:t>Phase </a:t>
                      </a:r>
                      <a:endParaRPr lang="en-US" dirty="0">
                        <a:effectLst/>
                      </a:endParaRPr>
                    </a:p>
                  </a:txBody>
                  <a:tcPr anchor="ctr"/>
                </a:tc>
                <a:tc>
                  <a:txBody>
                    <a:bodyPr/>
                    <a:lstStyle/>
                    <a:p>
                      <a:r>
                        <a:rPr lang="en-US" sz="1200" b="1" i="0">
                          <a:solidFill>
                            <a:srgbClr val="000000"/>
                          </a:solidFill>
                          <a:effectLst/>
                          <a:latin typeface="TimesNewRomanPS-BoldMT"/>
                        </a:rPr>
                        <a:t>Duration </a:t>
                      </a:r>
                      <a:endParaRPr lang="en-US">
                        <a:effectLst/>
                      </a:endParaRPr>
                    </a:p>
                  </a:txBody>
                  <a:tcPr anchor="ctr"/>
                </a:tc>
                <a:tc>
                  <a:txBody>
                    <a:bodyPr/>
                    <a:lstStyle/>
                    <a:p>
                      <a:r>
                        <a:rPr lang="en-US" sz="1200" b="1" i="0" dirty="0">
                          <a:solidFill>
                            <a:srgbClr val="000000"/>
                          </a:solidFill>
                          <a:effectLst/>
                          <a:latin typeface="TimesNewRomanPS-BoldMT"/>
                        </a:rPr>
                        <a:t>Deliverable</a:t>
                      </a:r>
                      <a:endParaRPr lang="en-US" dirty="0">
                        <a:effectLst/>
                      </a:endParaRPr>
                    </a:p>
                  </a:txBody>
                  <a:tcPr anchor="ctr"/>
                </a:tc>
                <a:extLst>
                  <a:ext uri="{0D108BD9-81ED-4DB2-BD59-A6C34878D82A}">
                    <a16:rowId xmlns:a16="http://schemas.microsoft.com/office/drawing/2014/main" val="745451356"/>
                  </a:ext>
                </a:extLst>
              </a:tr>
              <a:tr h="370840">
                <a:tc>
                  <a:txBody>
                    <a:bodyPr/>
                    <a:lstStyle/>
                    <a:p>
                      <a:r>
                        <a:rPr lang="en-US" sz="1200" b="0" i="0">
                          <a:solidFill>
                            <a:srgbClr val="000000"/>
                          </a:solidFill>
                          <a:effectLst/>
                          <a:latin typeface="TimesNewRomanPSMT"/>
                        </a:rPr>
                        <a:t>Proposal </a:t>
                      </a:r>
                      <a:endParaRPr lang="en-US">
                        <a:effectLst/>
                      </a:endParaRPr>
                    </a:p>
                  </a:txBody>
                  <a:tcPr anchor="ctr"/>
                </a:tc>
                <a:tc>
                  <a:txBody>
                    <a:bodyPr/>
                    <a:lstStyle/>
                    <a:p>
                      <a:r>
                        <a:rPr lang="en-US" sz="1200" b="0" i="0">
                          <a:solidFill>
                            <a:srgbClr val="000000"/>
                          </a:solidFill>
                          <a:effectLst/>
                          <a:latin typeface="TimesNewRomanPSMT"/>
                        </a:rPr>
                        <a:t>Week 1-2 </a:t>
                      </a:r>
                      <a:endParaRPr lang="en-US">
                        <a:effectLst/>
                      </a:endParaRPr>
                    </a:p>
                  </a:txBody>
                  <a:tcPr anchor="ctr"/>
                </a:tc>
                <a:tc>
                  <a:txBody>
                    <a:bodyPr/>
                    <a:lstStyle/>
                    <a:p>
                      <a:r>
                        <a:rPr lang="en-US" sz="1200" b="0" i="0">
                          <a:solidFill>
                            <a:srgbClr val="000000"/>
                          </a:solidFill>
                          <a:effectLst/>
                          <a:latin typeface="TimesNewRomanPSMT"/>
                        </a:rPr>
                        <a:t>Approved project proposal</a:t>
                      </a:r>
                      <a:endParaRPr lang="en-US">
                        <a:effectLst/>
                      </a:endParaRPr>
                    </a:p>
                  </a:txBody>
                  <a:tcPr anchor="ctr"/>
                </a:tc>
                <a:extLst>
                  <a:ext uri="{0D108BD9-81ED-4DB2-BD59-A6C34878D82A}">
                    <a16:rowId xmlns:a16="http://schemas.microsoft.com/office/drawing/2014/main" val="3490795530"/>
                  </a:ext>
                </a:extLst>
              </a:tr>
              <a:tr h="370840">
                <a:tc>
                  <a:txBody>
                    <a:bodyPr/>
                    <a:lstStyle/>
                    <a:p>
                      <a:r>
                        <a:rPr lang="en-US" sz="1200" b="0" i="0">
                          <a:solidFill>
                            <a:srgbClr val="000000"/>
                          </a:solidFill>
                          <a:effectLst/>
                          <a:latin typeface="TimesNewRomanPSMT"/>
                        </a:rPr>
                        <a:t>Literature Review &amp; Design </a:t>
                      </a:r>
                      <a:endParaRPr lang="en-US">
                        <a:effectLst/>
                      </a:endParaRPr>
                    </a:p>
                  </a:txBody>
                  <a:tcPr anchor="ctr"/>
                </a:tc>
                <a:tc>
                  <a:txBody>
                    <a:bodyPr/>
                    <a:lstStyle/>
                    <a:p>
                      <a:r>
                        <a:rPr lang="en-US" sz="1200" b="0" i="0">
                          <a:solidFill>
                            <a:srgbClr val="000000"/>
                          </a:solidFill>
                          <a:effectLst/>
                          <a:latin typeface="TimesNewRomanPSMT"/>
                        </a:rPr>
                        <a:t>Week 3-5 </a:t>
                      </a:r>
                      <a:endParaRPr lang="en-US">
                        <a:effectLst/>
                      </a:endParaRPr>
                    </a:p>
                  </a:txBody>
                  <a:tcPr anchor="ctr"/>
                </a:tc>
                <a:tc>
                  <a:txBody>
                    <a:bodyPr/>
                    <a:lstStyle/>
                    <a:p>
                      <a:r>
                        <a:rPr lang="en-US" sz="1200" b="0" i="0">
                          <a:solidFill>
                            <a:srgbClr val="000000"/>
                          </a:solidFill>
                          <a:effectLst/>
                          <a:latin typeface="TimesNewRomanPSMT"/>
                        </a:rPr>
                        <a:t>System architecture</a:t>
                      </a:r>
                      <a:endParaRPr lang="en-US">
                        <a:effectLst/>
                      </a:endParaRPr>
                    </a:p>
                  </a:txBody>
                  <a:tcPr anchor="ctr"/>
                </a:tc>
                <a:extLst>
                  <a:ext uri="{0D108BD9-81ED-4DB2-BD59-A6C34878D82A}">
                    <a16:rowId xmlns:a16="http://schemas.microsoft.com/office/drawing/2014/main" val="1447107999"/>
                  </a:ext>
                </a:extLst>
              </a:tr>
              <a:tr h="370840">
                <a:tc>
                  <a:txBody>
                    <a:bodyPr/>
                    <a:lstStyle/>
                    <a:p>
                      <a:r>
                        <a:rPr lang="en-US" sz="1200" b="0" i="0">
                          <a:solidFill>
                            <a:srgbClr val="000000"/>
                          </a:solidFill>
                          <a:effectLst/>
                          <a:latin typeface="TimesNewRomanPSMT"/>
                        </a:rPr>
                        <a:t>Development </a:t>
                      </a:r>
                      <a:endParaRPr lang="en-US">
                        <a:effectLst/>
                      </a:endParaRPr>
                    </a:p>
                  </a:txBody>
                  <a:tcPr anchor="ctr"/>
                </a:tc>
                <a:tc>
                  <a:txBody>
                    <a:bodyPr/>
                    <a:lstStyle/>
                    <a:p>
                      <a:r>
                        <a:rPr lang="en-US" sz="1200" b="0" i="0">
                          <a:solidFill>
                            <a:srgbClr val="000000"/>
                          </a:solidFill>
                          <a:effectLst/>
                          <a:latin typeface="TimesNewRomanPSMT"/>
                        </a:rPr>
                        <a:t>Week 6-10 </a:t>
                      </a:r>
                      <a:endParaRPr lang="en-US">
                        <a:effectLst/>
                      </a:endParaRPr>
                    </a:p>
                  </a:txBody>
                  <a:tcPr anchor="ctr"/>
                </a:tc>
                <a:tc>
                  <a:txBody>
                    <a:bodyPr/>
                    <a:lstStyle/>
                    <a:p>
                      <a:r>
                        <a:rPr lang="en-US" sz="1200" b="0" i="0">
                          <a:solidFill>
                            <a:srgbClr val="000000"/>
                          </a:solidFill>
                          <a:effectLst/>
                          <a:latin typeface="TimesNewRomanPSMT"/>
                        </a:rPr>
                        <a:t>Working prototype</a:t>
                      </a:r>
                      <a:endParaRPr lang="en-US">
                        <a:effectLst/>
                      </a:endParaRPr>
                    </a:p>
                  </a:txBody>
                  <a:tcPr anchor="ctr"/>
                </a:tc>
                <a:extLst>
                  <a:ext uri="{0D108BD9-81ED-4DB2-BD59-A6C34878D82A}">
                    <a16:rowId xmlns:a16="http://schemas.microsoft.com/office/drawing/2014/main" val="2607639021"/>
                  </a:ext>
                </a:extLst>
              </a:tr>
              <a:tr h="370840">
                <a:tc>
                  <a:txBody>
                    <a:bodyPr/>
                    <a:lstStyle/>
                    <a:p>
                      <a:r>
                        <a:rPr lang="en-US" sz="1200" b="0" i="0">
                          <a:solidFill>
                            <a:srgbClr val="000000"/>
                          </a:solidFill>
                          <a:effectLst/>
                          <a:latin typeface="TimesNewRomanPSMT"/>
                        </a:rPr>
                        <a:t>Midway Evaluation </a:t>
                      </a:r>
                      <a:endParaRPr lang="en-US">
                        <a:effectLst/>
                      </a:endParaRPr>
                    </a:p>
                  </a:txBody>
                  <a:tcPr anchor="ctr"/>
                </a:tc>
                <a:tc>
                  <a:txBody>
                    <a:bodyPr/>
                    <a:lstStyle/>
                    <a:p>
                      <a:r>
                        <a:rPr lang="en-US" sz="1200" b="0" i="0">
                          <a:solidFill>
                            <a:srgbClr val="000000"/>
                          </a:solidFill>
                          <a:effectLst/>
                          <a:latin typeface="TimesNewRomanPSMT"/>
                        </a:rPr>
                        <a:t>Week 11 </a:t>
                      </a:r>
                      <a:endParaRPr lang="en-US">
                        <a:effectLst/>
                      </a:endParaRPr>
                    </a:p>
                  </a:txBody>
                  <a:tcPr anchor="ctr"/>
                </a:tc>
                <a:tc>
                  <a:txBody>
                    <a:bodyPr/>
                    <a:lstStyle/>
                    <a:p>
                      <a:r>
                        <a:rPr lang="en-US" sz="1200" b="0" i="0">
                          <a:solidFill>
                            <a:srgbClr val="000000"/>
                          </a:solidFill>
                          <a:effectLst/>
                          <a:latin typeface="TimesNewRomanPSMT"/>
                        </a:rPr>
                        <a:t>Midway report &amp; demo</a:t>
                      </a:r>
                      <a:endParaRPr lang="en-US">
                        <a:effectLst/>
                      </a:endParaRPr>
                    </a:p>
                  </a:txBody>
                  <a:tcPr anchor="ctr"/>
                </a:tc>
                <a:extLst>
                  <a:ext uri="{0D108BD9-81ED-4DB2-BD59-A6C34878D82A}">
                    <a16:rowId xmlns:a16="http://schemas.microsoft.com/office/drawing/2014/main" val="3252626137"/>
                  </a:ext>
                </a:extLst>
              </a:tr>
              <a:tr h="370840">
                <a:tc>
                  <a:txBody>
                    <a:bodyPr/>
                    <a:lstStyle/>
                    <a:p>
                      <a:r>
                        <a:rPr lang="en-US" sz="1200" b="0" i="0">
                          <a:solidFill>
                            <a:srgbClr val="000000"/>
                          </a:solidFill>
                          <a:effectLst/>
                          <a:latin typeface="TimesNewRomanPSMT"/>
                        </a:rPr>
                        <a:t>Testing </a:t>
                      </a:r>
                      <a:endParaRPr lang="en-US">
                        <a:effectLst/>
                      </a:endParaRPr>
                    </a:p>
                  </a:txBody>
                  <a:tcPr anchor="ctr"/>
                </a:tc>
                <a:tc>
                  <a:txBody>
                    <a:bodyPr/>
                    <a:lstStyle/>
                    <a:p>
                      <a:r>
                        <a:rPr lang="en-US" sz="1200" b="0" i="0">
                          <a:solidFill>
                            <a:srgbClr val="000000"/>
                          </a:solidFill>
                          <a:effectLst/>
                          <a:latin typeface="TimesNewRomanPSMT"/>
                        </a:rPr>
                        <a:t>Week 12 -13 </a:t>
                      </a:r>
                      <a:endParaRPr lang="en-US">
                        <a:effectLst/>
                      </a:endParaRPr>
                    </a:p>
                  </a:txBody>
                  <a:tcPr anchor="ctr"/>
                </a:tc>
                <a:tc>
                  <a:txBody>
                    <a:bodyPr/>
                    <a:lstStyle/>
                    <a:p>
                      <a:r>
                        <a:rPr lang="en-US" sz="1200" b="0" i="0">
                          <a:solidFill>
                            <a:srgbClr val="000000"/>
                          </a:solidFill>
                          <a:effectLst/>
                          <a:latin typeface="TimesNewRomanPSMT"/>
                        </a:rPr>
                        <a:t>Tested System</a:t>
                      </a:r>
                      <a:endParaRPr lang="en-US">
                        <a:effectLst/>
                      </a:endParaRPr>
                    </a:p>
                  </a:txBody>
                  <a:tcPr anchor="ctr"/>
                </a:tc>
                <a:extLst>
                  <a:ext uri="{0D108BD9-81ED-4DB2-BD59-A6C34878D82A}">
                    <a16:rowId xmlns:a16="http://schemas.microsoft.com/office/drawing/2014/main" val="1102509640"/>
                  </a:ext>
                </a:extLst>
              </a:tr>
              <a:tr h="370840">
                <a:tc>
                  <a:txBody>
                    <a:bodyPr/>
                    <a:lstStyle/>
                    <a:p>
                      <a:r>
                        <a:rPr lang="en-US" sz="1200" b="0" i="0">
                          <a:solidFill>
                            <a:srgbClr val="000000"/>
                          </a:solidFill>
                          <a:effectLst/>
                          <a:latin typeface="TimesNewRomanPSMT"/>
                        </a:rPr>
                        <a:t>Report Writing </a:t>
                      </a:r>
                      <a:endParaRPr lang="en-US">
                        <a:effectLst/>
                      </a:endParaRPr>
                    </a:p>
                  </a:txBody>
                  <a:tcPr anchor="ctr"/>
                </a:tc>
                <a:tc>
                  <a:txBody>
                    <a:bodyPr/>
                    <a:lstStyle/>
                    <a:p>
                      <a:r>
                        <a:rPr lang="en-US" sz="1200" b="0" i="0">
                          <a:solidFill>
                            <a:srgbClr val="000000"/>
                          </a:solidFill>
                          <a:effectLst/>
                          <a:latin typeface="TimesNewRomanPSMT"/>
                        </a:rPr>
                        <a:t>Week 14 - 15 </a:t>
                      </a:r>
                      <a:endParaRPr lang="en-US">
                        <a:effectLst/>
                      </a:endParaRPr>
                    </a:p>
                  </a:txBody>
                  <a:tcPr anchor="ctr"/>
                </a:tc>
                <a:tc>
                  <a:txBody>
                    <a:bodyPr/>
                    <a:lstStyle/>
                    <a:p>
                      <a:r>
                        <a:rPr lang="en-US" sz="1200" b="0" i="0">
                          <a:solidFill>
                            <a:srgbClr val="000000"/>
                          </a:solidFill>
                          <a:effectLst/>
                          <a:latin typeface="TimesNewRomanPSMT"/>
                        </a:rPr>
                        <a:t>Final Report</a:t>
                      </a:r>
                      <a:endParaRPr lang="en-US">
                        <a:effectLst/>
                      </a:endParaRPr>
                    </a:p>
                  </a:txBody>
                  <a:tcPr anchor="ctr"/>
                </a:tc>
                <a:extLst>
                  <a:ext uri="{0D108BD9-81ED-4DB2-BD59-A6C34878D82A}">
                    <a16:rowId xmlns:a16="http://schemas.microsoft.com/office/drawing/2014/main" val="243980729"/>
                  </a:ext>
                </a:extLst>
              </a:tr>
              <a:tr h="370840">
                <a:tc>
                  <a:txBody>
                    <a:bodyPr/>
                    <a:lstStyle/>
                    <a:p>
                      <a:r>
                        <a:rPr lang="en-US" sz="1200" b="0" i="0">
                          <a:solidFill>
                            <a:srgbClr val="000000"/>
                          </a:solidFill>
                          <a:effectLst/>
                          <a:latin typeface="TimesNewRomanPSMT"/>
                        </a:rPr>
                        <a:t>Final Submission </a:t>
                      </a:r>
                      <a:endParaRPr lang="en-US">
                        <a:effectLst/>
                      </a:endParaRPr>
                    </a:p>
                  </a:txBody>
                  <a:tcPr anchor="ctr"/>
                </a:tc>
                <a:tc>
                  <a:txBody>
                    <a:bodyPr/>
                    <a:lstStyle/>
                    <a:p>
                      <a:r>
                        <a:rPr lang="en-US" sz="1200" b="0" i="0">
                          <a:solidFill>
                            <a:srgbClr val="000000"/>
                          </a:solidFill>
                          <a:effectLst/>
                          <a:latin typeface="TimesNewRomanPSMT"/>
                        </a:rPr>
                        <a:t>Week 16 </a:t>
                      </a:r>
                      <a:endParaRPr lang="en-US">
                        <a:effectLst/>
                      </a:endParaRPr>
                    </a:p>
                  </a:txBody>
                  <a:tcPr anchor="ctr"/>
                </a:tc>
                <a:tc>
                  <a:txBody>
                    <a:bodyPr/>
                    <a:lstStyle/>
                    <a:p>
                      <a:r>
                        <a:rPr lang="en-US" sz="1200" b="0" i="0" dirty="0">
                          <a:solidFill>
                            <a:srgbClr val="000000"/>
                          </a:solidFill>
                          <a:effectLst/>
                          <a:latin typeface="TimesNewRomanPSMT"/>
                        </a:rPr>
                        <a:t>Final Presentation</a:t>
                      </a:r>
                      <a:endParaRPr lang="en-US" dirty="0">
                        <a:effectLst/>
                      </a:endParaRPr>
                    </a:p>
                  </a:txBody>
                  <a:tcPr anchor="ctr"/>
                </a:tc>
                <a:extLst>
                  <a:ext uri="{0D108BD9-81ED-4DB2-BD59-A6C34878D82A}">
                    <a16:rowId xmlns:a16="http://schemas.microsoft.com/office/drawing/2014/main" val="3911674212"/>
                  </a:ext>
                </a:extLst>
              </a:tr>
            </a:tbl>
          </a:graphicData>
        </a:graphic>
      </p:graphicFrame>
    </p:spTree>
    <p:extLst>
      <p:ext uri="{BB962C8B-B14F-4D97-AF65-F5344CB8AC3E}">
        <p14:creationId xmlns:p14="http://schemas.microsoft.com/office/powerpoint/2010/main" val="37950745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a:xfrm>
            <a:off x="385590" y="2603500"/>
            <a:ext cx="11116020" cy="3416300"/>
          </a:xfrm>
        </p:spPr>
        <p:txBody>
          <a:bodyPr/>
          <a:lstStyle/>
          <a:p>
            <a:pPr marL="0" indent="0">
              <a:buNone/>
            </a:pPr>
            <a:r>
              <a:rPr lang="en-US" b="1" dirty="0"/>
              <a:t>In conclusion, this project successfully demonstrates how blockchain technology can address the critical challenges of academic credential verification in Zambia. By replacing manual, fraud-prone processes with a secure, decentralized system, the proposed </a:t>
            </a:r>
            <a:r>
              <a:rPr lang="en-US" b="1" dirty="0" smtClean="0"/>
              <a:t>solution </a:t>
            </a:r>
            <a:r>
              <a:rPr lang="en-US" b="1" dirty="0"/>
              <a:t>ensures that certificates are immutable, instantly verifiable, and trustworthy. This solution not only safeguards the integrity of Zambian qualifications but also streamlines verification for employers and graduates, paving the way for a more efficient, transparent, and nationally unified digital infrastructure.</a:t>
            </a:r>
          </a:p>
        </p:txBody>
      </p:sp>
    </p:spTree>
    <p:extLst>
      <p:ext uri="{BB962C8B-B14F-4D97-AF65-F5344CB8AC3E}">
        <p14:creationId xmlns:p14="http://schemas.microsoft.com/office/powerpoint/2010/main" val="13198717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dirty="0" smtClean="0"/>
              <a:t>References </a:t>
            </a:r>
            <a:r>
              <a:rPr lang="en-US" dirty="0"/>
              <a:t/>
            </a:r>
            <a:br>
              <a:rPr lang="en-US" dirty="0"/>
            </a:br>
            <a:endParaRPr lang="en-US" dirty="0"/>
          </a:p>
        </p:txBody>
      </p:sp>
      <p:sp>
        <p:nvSpPr>
          <p:cNvPr id="3" name="Content Placeholder 2"/>
          <p:cNvSpPr>
            <a:spLocks noGrp="1"/>
          </p:cNvSpPr>
          <p:nvPr>
            <p:ph idx="1"/>
          </p:nvPr>
        </p:nvSpPr>
        <p:spPr>
          <a:xfrm>
            <a:off x="506776" y="2361129"/>
            <a:ext cx="11380424" cy="4028654"/>
          </a:xfrm>
        </p:spPr>
        <p:txBody>
          <a:bodyPr>
            <a:normAutofit fontScale="85000" lnSpcReduction="20000"/>
          </a:bodyPr>
          <a:lstStyle/>
          <a:p>
            <a:pPr marL="400050" indent="-400050">
              <a:buFont typeface="+mj-lt"/>
              <a:buAutoNum type="romanUcPeriod"/>
            </a:pPr>
            <a:r>
              <a:rPr lang="en-US" b="1" dirty="0" err="1"/>
              <a:t>Nakamoto</a:t>
            </a:r>
            <a:r>
              <a:rPr lang="en-US" b="1" dirty="0"/>
              <a:t>, S. (2008). Bitcoin: A peer-to-peer electronic cash system. https://bitcoin.org/bitcoin.pdf</a:t>
            </a:r>
          </a:p>
          <a:p>
            <a:pPr marL="400050" indent="-400050">
              <a:buFont typeface="+mj-lt"/>
              <a:buAutoNum type="romanUcPeriod"/>
            </a:pPr>
            <a:r>
              <a:rPr lang="en-US" b="1" dirty="0"/>
              <a:t>Swan, M. (2015). Blockchain: Blueprint for a new economy. O'Reilly Media.</a:t>
            </a:r>
          </a:p>
          <a:p>
            <a:pPr marL="400050" indent="-400050">
              <a:buFont typeface="+mj-lt"/>
              <a:buAutoNum type="romanUcPeriod"/>
            </a:pPr>
            <a:r>
              <a:rPr lang="en-US" b="1" dirty="0"/>
              <a:t>Zheng, X., </a:t>
            </a:r>
            <a:r>
              <a:rPr lang="en-US" b="1" dirty="0" err="1"/>
              <a:t>Xie</a:t>
            </a:r>
            <a:r>
              <a:rPr lang="en-US" b="1" dirty="0"/>
              <a:t>, S., Dai, H., Chen, X., &amp; Wang, H. (2018). Blockchain challenges and opportunities: A survey. International Journal of Web and Grid Services, 14(4), 352–375.</a:t>
            </a:r>
          </a:p>
          <a:p>
            <a:pPr marL="400050" indent="-400050">
              <a:buFont typeface="+mj-lt"/>
              <a:buAutoNum type="romanUcPeriod"/>
            </a:pPr>
            <a:r>
              <a:rPr lang="en-US" b="1" dirty="0" err="1"/>
              <a:t>Tapscott</a:t>
            </a:r>
            <a:r>
              <a:rPr lang="en-US" b="1" dirty="0"/>
              <a:t>, D., &amp; </a:t>
            </a:r>
            <a:r>
              <a:rPr lang="en-US" b="1" dirty="0" err="1"/>
              <a:t>Tapscott</a:t>
            </a:r>
            <a:r>
              <a:rPr lang="en-US" b="1" dirty="0"/>
              <a:t>, A. (2016). Blockchain revolution: How the technology behind Bitcoin is changing money, business, and the world. Portfolio.</a:t>
            </a:r>
          </a:p>
          <a:p>
            <a:pPr marL="400050" indent="-400050">
              <a:buFont typeface="+mj-lt"/>
              <a:buAutoNum type="romanUcPeriod"/>
            </a:pPr>
            <a:r>
              <a:rPr lang="en-US" b="1" dirty="0"/>
              <a:t>Examinations Council of Zambia. (2023). Online results verification system. Lusaka, Zambia.</a:t>
            </a:r>
          </a:p>
          <a:p>
            <a:pPr marL="400050" indent="-400050">
              <a:buFont typeface="+mj-lt"/>
              <a:buAutoNum type="romanUcPeriod"/>
            </a:pPr>
            <a:r>
              <a:rPr lang="en-US" b="1" dirty="0"/>
              <a:t>Zambia Qualifications Authority. (2023). Qualification verification services. Lusaka, Zambia.</a:t>
            </a:r>
          </a:p>
          <a:p>
            <a:pPr marL="400050" indent="-400050">
              <a:buFont typeface="+mj-lt"/>
              <a:buAutoNum type="romanUcPeriod"/>
            </a:pPr>
            <a:r>
              <a:rPr lang="en-US" b="1" dirty="0" err="1"/>
              <a:t>Buterin</a:t>
            </a:r>
            <a:r>
              <a:rPr lang="en-US" b="1" dirty="0"/>
              <a:t>, V. (2014). A next-generation smart contract and decentralized application platform. Ethereum White Paper. https://ethereum.org/en/whitepaper/</a:t>
            </a:r>
          </a:p>
          <a:p>
            <a:pPr marL="400050" indent="-400050">
              <a:buFont typeface="+mj-lt"/>
              <a:buAutoNum type="romanUcPeriod"/>
            </a:pPr>
            <a:r>
              <a:rPr lang="en-US" b="1" dirty="0"/>
              <a:t>Bashir, I. (2018). Mastering blockchain: Distributed ledger technology, decentralization, and smart contracts explained. </a:t>
            </a:r>
            <a:r>
              <a:rPr lang="en-US" b="1" dirty="0" err="1"/>
              <a:t>Packt</a:t>
            </a:r>
            <a:r>
              <a:rPr lang="en-US" b="1" dirty="0"/>
              <a:t> Publishing.</a:t>
            </a:r>
          </a:p>
          <a:p>
            <a:pPr marL="400050" indent="-400050">
              <a:buFont typeface="+mj-lt"/>
              <a:buAutoNum type="romanUcPeriod"/>
            </a:pPr>
            <a:r>
              <a:rPr lang="en-US" b="1" dirty="0"/>
              <a:t>Narayanan, A., </a:t>
            </a:r>
            <a:r>
              <a:rPr lang="en-US" b="1" dirty="0" err="1"/>
              <a:t>Bonneau</a:t>
            </a:r>
            <a:r>
              <a:rPr lang="en-US" b="1" dirty="0"/>
              <a:t>, J., </a:t>
            </a:r>
            <a:r>
              <a:rPr lang="en-US" b="1" dirty="0" err="1"/>
              <a:t>Felten</a:t>
            </a:r>
            <a:r>
              <a:rPr lang="en-US" b="1" dirty="0"/>
              <a:t>, E., Miller, A., &amp; </a:t>
            </a:r>
            <a:r>
              <a:rPr lang="en-US" b="1" dirty="0" err="1"/>
              <a:t>Goldfeder</a:t>
            </a:r>
            <a:r>
              <a:rPr lang="en-US" b="1" dirty="0"/>
              <a:t>, S. (2016). Bitcoin and cryptocurrency technologies. Princeton University Press.</a:t>
            </a:r>
          </a:p>
          <a:p>
            <a:pPr marL="400050" indent="-400050">
              <a:buFont typeface="+mj-lt"/>
              <a:buAutoNum type="romanUcPeriod"/>
            </a:pPr>
            <a:r>
              <a:rPr lang="en-US" b="1" dirty="0"/>
              <a:t>Ethereum Foundation. (2023). Ethereum documentation. https://ethereum.org</a:t>
            </a:r>
          </a:p>
        </p:txBody>
      </p:sp>
    </p:spTree>
    <p:extLst>
      <p:ext uri="{BB962C8B-B14F-4D97-AF65-F5344CB8AC3E}">
        <p14:creationId xmlns:p14="http://schemas.microsoft.com/office/powerpoint/2010/main" val="27214769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1654</TotalTime>
  <Words>1605</Words>
  <Application>Microsoft Office PowerPoint</Application>
  <PresentationFormat>Widescreen</PresentationFormat>
  <Paragraphs>138</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 Unicode MS</vt:lpstr>
      <vt:lpstr>Arial</vt:lpstr>
      <vt:lpstr>Bahnschrift Light</vt:lpstr>
      <vt:lpstr>Century Gothic</vt:lpstr>
      <vt:lpstr>Inter</vt:lpstr>
      <vt:lpstr>TimesNewRomanPS-BoldMT</vt:lpstr>
      <vt:lpstr>TimesNewRomanPSMT</vt:lpstr>
      <vt:lpstr>Wingdings</vt:lpstr>
      <vt:lpstr>Wingdings 3</vt:lpstr>
      <vt:lpstr>Ion Boardroom</vt:lpstr>
      <vt:lpstr>Blockchain-Based Academic Certificate Verification System</vt:lpstr>
      <vt:lpstr>Contents</vt:lpstr>
      <vt:lpstr>Introduction</vt:lpstr>
      <vt:lpstr>Problem Statement </vt:lpstr>
      <vt:lpstr> Aim of Study </vt:lpstr>
      <vt:lpstr> Project Objectives </vt:lpstr>
      <vt:lpstr> Scope of the Project </vt:lpstr>
      <vt:lpstr> Literature Review  </vt:lpstr>
      <vt:lpstr> Limitations of Centralized Verification System </vt:lpstr>
      <vt:lpstr> Research Gap </vt:lpstr>
      <vt:lpstr> System workflow </vt:lpstr>
      <vt:lpstr>System Architecture</vt:lpstr>
      <vt:lpstr> Tools and Technologies </vt:lpstr>
      <vt:lpstr> Ethical and Legal Considerations </vt:lpstr>
      <vt:lpstr> Project Timeline </vt:lpstr>
      <vt:lpstr>Conclusion</vt:lpstr>
      <vt:lpstr>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Blockchain-Based Academic Certificate Verification System</dc:title>
  <dc:creator>ELISHA LUNGU</dc:creator>
  <cp:lastModifiedBy>ELISHA LUNGU</cp:lastModifiedBy>
  <cp:revision>19</cp:revision>
  <dcterms:created xsi:type="dcterms:W3CDTF">2026-03-25T17:48:34Z</dcterms:created>
  <dcterms:modified xsi:type="dcterms:W3CDTF">2026-03-27T07:09:12Z</dcterms:modified>
</cp:coreProperties>
</file>